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2" r:id="rId1"/>
    <p:sldMasterId id="2147483810" r:id="rId2"/>
  </p:sldMasterIdLst>
  <p:notesMasterIdLst>
    <p:notesMasterId r:id="rId22"/>
  </p:notesMasterIdLst>
  <p:handoutMasterIdLst>
    <p:handoutMasterId r:id="rId23"/>
  </p:handoutMasterIdLst>
  <p:sldIdLst>
    <p:sldId id="259" r:id="rId3"/>
    <p:sldId id="262" r:id="rId4"/>
    <p:sldId id="268" r:id="rId5"/>
    <p:sldId id="264" r:id="rId6"/>
    <p:sldId id="282" r:id="rId7"/>
    <p:sldId id="265" r:id="rId8"/>
    <p:sldId id="266" r:id="rId9"/>
    <p:sldId id="263" r:id="rId10"/>
    <p:sldId id="267" r:id="rId11"/>
    <p:sldId id="281" r:id="rId12"/>
    <p:sldId id="272" r:id="rId13"/>
    <p:sldId id="278" r:id="rId14"/>
    <p:sldId id="279" r:id="rId15"/>
    <p:sldId id="274" r:id="rId16"/>
    <p:sldId id="273" r:id="rId17"/>
    <p:sldId id="280" r:id="rId18"/>
    <p:sldId id="276" r:id="rId19"/>
    <p:sldId id="283" r:id="rId20"/>
    <p:sldId id="260" r:id="rId2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7F4"/>
    <a:srgbClr val="2774AE"/>
    <a:srgbClr val="FC28FC"/>
    <a:srgbClr val="898989"/>
    <a:srgbClr val="DBE7F5"/>
    <a:srgbClr val="58595B"/>
    <a:srgbClr val="D2DDE8"/>
    <a:srgbClr val="2C75AC"/>
    <a:srgbClr val="0057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24"/>
    <p:restoredTop sz="94663"/>
  </p:normalViewPr>
  <p:slideViewPr>
    <p:cSldViewPr snapToGrid="0" snapToObjects="1">
      <p:cViewPr varScale="1">
        <p:scale>
          <a:sx n="140" d="100"/>
          <a:sy n="140" d="100"/>
        </p:scale>
        <p:origin x="89" y="569"/>
      </p:cViewPr>
      <p:guideLst/>
    </p:cSldViewPr>
  </p:slideViewPr>
  <p:notesTextViewPr>
    <p:cViewPr>
      <p:scale>
        <a:sx n="1" d="1"/>
        <a:sy n="1" d="1"/>
      </p:scale>
      <p:origin x="0" y="0"/>
    </p:cViewPr>
  </p:notesTextViewPr>
  <p:notesViewPr>
    <p:cSldViewPr snapToGrid="0" snapToObjects="1" showGuides="1">
      <p:cViewPr varScale="1">
        <p:scale>
          <a:sx n="109" d="100"/>
          <a:sy n="109" d="100"/>
        </p:scale>
        <p:origin x="4312" y="1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FE8772-A332-C74F-AD00-23D5DB85E6B5}" type="slidenum">
              <a:rPr lang="en-US" smtClean="0"/>
              <a:t>‹#›</a:t>
            </a:fld>
            <a:endParaRPr lang="en-US"/>
          </a:p>
        </p:txBody>
      </p:sp>
      <p:sp>
        <p:nvSpPr>
          <p:cNvPr id="6" name="Date Placeholder 5"/>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B3CDA7-AE1F-B443-9CC8-18CAE676597E}" type="datetimeFigureOut">
              <a:rPr lang="en-US" smtClean="0"/>
              <a:t>3/18/2026</a:t>
            </a:fld>
            <a:endParaRPr lang="en-US"/>
          </a:p>
        </p:txBody>
      </p:sp>
    </p:spTree>
    <p:extLst>
      <p:ext uri="{BB962C8B-B14F-4D97-AF65-F5344CB8AC3E}">
        <p14:creationId xmlns:p14="http://schemas.microsoft.com/office/powerpoint/2010/main" val="2129902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5E37-3A67-EE46-AE6F-745A0EEF17F3}"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D2381-FA7F-3B4F-861F-D0662239D2ED}" type="slidenum">
              <a:rPr lang="en-US" smtClean="0"/>
              <a:t>‹#›</a:t>
            </a:fld>
            <a:endParaRPr lang="en-US"/>
          </a:p>
        </p:txBody>
      </p:sp>
    </p:spTree>
    <p:extLst>
      <p:ext uri="{BB962C8B-B14F-4D97-AF65-F5344CB8AC3E}">
        <p14:creationId xmlns:p14="http://schemas.microsoft.com/office/powerpoint/2010/main" val="19964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7407534" y="4754880"/>
            <a:ext cx="941832" cy="365760"/>
          </a:xfrm>
          <a:prstGeom prst="rect">
            <a:avLst/>
          </a:prstGeom>
        </p:spPr>
        <p:txBody>
          <a:bodyPr/>
          <a:lstStyle/>
          <a:p>
            <a:fld id="{12331DAD-76C8-D143-940A-1249F810C751}" type="datetime4">
              <a:rPr lang="en-US" smtClean="0"/>
              <a:t>March 18,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0"/>
            <a:ext cx="9144000" cy="5151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640080" y="4663376"/>
            <a:ext cx="1726178"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640080" y="4480496"/>
            <a:ext cx="1188720"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Presenter Name</a:t>
            </a:r>
          </a:p>
        </p:txBody>
      </p:sp>
      <p:sp>
        <p:nvSpPr>
          <p:cNvPr id="15" name="Header rule">
            <a:extLst>
              <a:ext uri="{FF2B5EF4-FFF2-40B4-BE49-F238E27FC236}">
                <a16:creationId xmlns:a16="http://schemas.microsoft.com/office/drawing/2014/main" id="{9D6D4E19-3FBE-DF40-B8C1-98D35A8D9F51}"/>
              </a:ext>
            </a:extLst>
          </p:cNvPr>
          <p:cNvSpPr/>
          <p:nvPr/>
        </p:nvSpPr>
        <p:spPr>
          <a:xfrm>
            <a:off x="640080" y="301752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640080" y="182880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640080" y="473625"/>
            <a:ext cx="3429000" cy="381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647698" y="476251"/>
            <a:ext cx="5564638" cy="1031639"/>
          </a:xfrm>
          <a:prstGeom prst="rect">
            <a:avLst/>
          </a:prstGeom>
        </p:spPr>
        <p:txBody>
          <a:bodyPr wrap="square" lIns="0" tIns="0" rIns="0" anchor="t" anchorCtr="0">
            <a:noAutofit/>
          </a:bodyPr>
          <a:lstStyle>
            <a:lvl1pPr marL="0" indent="0" algn="l">
              <a:buNone/>
              <a:defRPr sz="1000"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2" name="TextBox 1">
            <a:extLst>
              <a:ext uri="{FF2B5EF4-FFF2-40B4-BE49-F238E27FC236}">
                <a16:creationId xmlns:a16="http://schemas.microsoft.com/office/drawing/2014/main" id="{E2AB141D-50D8-B545-AC99-DA856384CC5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640080" y="1892808"/>
            <a:ext cx="7772400" cy="1102546"/>
          </a:xfrm>
          <a:prstGeom prst="rect">
            <a:avLst/>
          </a:prstGeom>
        </p:spPr>
        <p:txBody>
          <a:bodyPr wrap="square" anchor="ctr" anchorCtr="0">
            <a:spAutoFit/>
          </a:bodyPr>
          <a:lstStyle>
            <a:lvl1pPr marL="0" indent="0">
              <a:buNone/>
              <a:defRPr sz="3600" b="1">
                <a:latin typeface="+mj-lt"/>
              </a:defRPr>
            </a:lvl1pPr>
            <a:lvl2pPr marL="0" indent="0">
              <a:buFont typeface="Arial" panose="020B0604020202020204" pitchFamily="34" charset="0"/>
              <a:buNone/>
              <a:defRPr sz="3600" b="1">
                <a:latin typeface="+mj-lt"/>
              </a:defRPr>
            </a:lvl2pPr>
            <a:lvl3pPr marL="363474" indent="0">
              <a:buNone/>
              <a:defRPr sz="3600" b="1">
                <a:latin typeface="+mj-lt"/>
              </a:defRPr>
            </a:lvl3pPr>
            <a:lvl4pPr marL="0" indent="0">
              <a:buNone/>
              <a:defRPr sz="3600" b="1">
                <a:latin typeface="+mj-lt"/>
              </a:defRPr>
            </a:lvl4pPr>
            <a:lvl5pPr marL="0" indent="0">
              <a:buNone/>
              <a:defRPr sz="36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167777195"/>
      </p:ext>
    </p:extLst>
  </p:cSld>
  <p:clrMapOvr>
    <a:masterClrMapping/>
  </p:clrMapOvr>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640079" y="2651760"/>
            <a:ext cx="7772400" cy="274320"/>
          </a:xfrm>
          <a:prstGeom prst="rect">
            <a:avLst/>
          </a:prstGeom>
        </p:spPr>
        <p:txBody>
          <a:bodyPr>
            <a:spAutoFit/>
          </a:bodyPr>
          <a:lstStyle>
            <a:lvl1pPr marL="0" indent="0">
              <a:buFontTx/>
              <a:buNone/>
              <a:defRPr sz="1600" b="1" i="0" cap="all" baseline="0">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dirty="0"/>
              <a:t>ADDITIONAL TEXT GOES HERE </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4"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640080" y="1897130"/>
            <a:ext cx="7772400" cy="498598"/>
          </a:xfrm>
          <a:prstGeom prst="rect">
            <a:avLst/>
          </a:prstGeom>
        </p:spPr>
        <p:txBody>
          <a:bodyPr wrap="square" anchor="ctr" anchorCtr="0">
            <a:spAutoFit/>
          </a:bodyPr>
          <a:lstStyle>
            <a:lvl1pPr marL="0" indent="0">
              <a:buNone/>
              <a:defRPr sz="3600" b="1">
                <a:latin typeface="+mj-lt"/>
              </a:defRPr>
            </a:lvl1pPr>
            <a:lvl2pPr marL="0" indent="0">
              <a:buFont typeface="Arial" panose="020B0604020202020204" pitchFamily="34" charset="0"/>
              <a:buNone/>
              <a:defRPr sz="3600" b="1">
                <a:latin typeface="+mj-lt"/>
              </a:defRPr>
            </a:lvl2pPr>
            <a:lvl3pPr marL="363474" indent="0">
              <a:buNone/>
              <a:defRPr sz="3600" b="1">
                <a:latin typeface="+mj-lt"/>
              </a:defRPr>
            </a:lvl3pPr>
            <a:lvl4pPr marL="0" indent="0">
              <a:buNone/>
              <a:defRPr sz="3600" b="1">
                <a:latin typeface="+mj-lt"/>
              </a:defRPr>
            </a:lvl4pPr>
            <a:lvl5pPr marL="0" indent="0">
              <a:buNone/>
              <a:defRPr sz="3600" b="1">
                <a:latin typeface="+mj-lt"/>
              </a:defRPr>
            </a:lvl5pPr>
          </a:lstStyle>
          <a:p>
            <a:pPr lvl="0"/>
            <a:r>
              <a:rPr lang="en-US"/>
              <a:t>Section Divider</a:t>
            </a:r>
            <a:endParaRPr lang="en-US" dirty="0"/>
          </a:p>
        </p:txBody>
      </p:sp>
    </p:spTree>
    <p:extLst>
      <p:ext uri="{BB962C8B-B14F-4D97-AF65-F5344CB8AC3E}">
        <p14:creationId xmlns:p14="http://schemas.microsoft.com/office/powerpoint/2010/main" val="215678567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640077" y="367401"/>
            <a:ext cx="7772400" cy="389979"/>
          </a:xfrm>
        </p:spPr>
        <p:txBody>
          <a:bodyPr anchor="b" anchorCtr="0"/>
          <a:lstStyle/>
          <a:p>
            <a:r>
              <a:rPr lang="en-US" dirty="0"/>
              <a:t>Header w/copy</a:t>
            </a:r>
          </a:p>
        </p:txBody>
      </p:sp>
    </p:spTree>
    <p:extLst>
      <p:ext uri="{BB962C8B-B14F-4D97-AF65-F5344CB8AC3E}">
        <p14:creationId xmlns:p14="http://schemas.microsoft.com/office/powerpoint/2010/main" val="4147832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097281" y="2286000"/>
            <a:ext cx="6858000" cy="38888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053518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02920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02920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802737949"/>
      </p:ext>
    </p:extLst>
  </p:cSld>
  <p:clrMapOvr>
    <a:masterClrMapping/>
  </p:clrMapOvr>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097280" y="1188720"/>
            <a:ext cx="6400800" cy="3108960"/>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7739809" y="1188720"/>
            <a:ext cx="946991" cy="1354217"/>
          </a:xfrm>
          <a:prstGeom prst="rect">
            <a:avLst/>
          </a:prstGeom>
        </p:spPr>
        <p:txBody>
          <a:bodyPr wrap="square" lIns="0">
            <a:spAutoFit/>
          </a:bodyPr>
          <a:lstStyle>
            <a:lvl1pPr marL="0" indent="0" algn="l">
              <a:lnSpc>
                <a:spcPct val="100000"/>
              </a:lnSpc>
              <a:buNone/>
              <a:defRPr sz="800" b="0">
                <a:solidFill>
                  <a:srgbClr val="FC28FC"/>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25398422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4572000" y="1554480"/>
            <a:ext cx="3840478" cy="1205209"/>
          </a:xfrm>
          <a:prstGeom prst="rect">
            <a:avLst/>
          </a:prstGeom>
        </p:spPr>
        <p:txBody>
          <a:bodyPr l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4571999" y="1188720"/>
            <a:ext cx="3840479" cy="215444"/>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640080"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3822431351"/>
      </p:ext>
    </p:extLst>
  </p:cSld>
  <p:clrMapOvr>
    <a:masterClrMapping/>
  </p:clrMapOvr>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79" y="1554480"/>
            <a:ext cx="3840480" cy="1205209"/>
          </a:xfrm>
          <a:prstGeom prst="rect">
            <a:avLst/>
          </a:prstGeom>
        </p:spPr>
        <p:txBody>
          <a:bodyPr lIns="0" r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40080" y="1188720"/>
            <a:ext cx="3840479" cy="219456"/>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4480559"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407242905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4663440"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466344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188372541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header w/two captioned images caption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8686800" y="4754880"/>
            <a:ext cx="457200" cy="365760"/>
          </a:xfrm>
        </p:spPr>
        <p:txBody>
          <a:bodyPr/>
          <a:lstStyle/>
          <a:p>
            <a:fld id="{B6238B5B-F19C-E947-A0BC-87BD7983F871}" type="slidenum">
              <a:rPr lang="en-US" smtClean="0"/>
              <a:pPr/>
              <a:t>‹#›</a:t>
            </a:fld>
            <a:endParaRPr lang="en-US" dirty="0"/>
          </a:p>
        </p:txBody>
      </p:sp>
      <p:sp>
        <p:nvSpPr>
          <p:cNvPr id="2" name="Rectangle 1">
            <a:extLst>
              <a:ext uri="{FF2B5EF4-FFF2-40B4-BE49-F238E27FC236}">
                <a16:creationId xmlns:a16="http://schemas.microsoft.com/office/drawing/2014/main" id="{3735DA87-8D0D-5646-9263-BA8534F57B0F}"/>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639950"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639951"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4663439"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4663440"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233576871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2468880"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594360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5943600"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329184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3291776"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94709349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3657600"/>
            <a:ext cx="7772400" cy="640080"/>
          </a:xfrm>
          <a:prstGeom prst="rect">
            <a:avLst/>
          </a:prstGeom>
        </p:spPr>
        <p:txBody>
          <a:bodyPr lIns="0" tIns="18288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40080" y="1188720"/>
            <a:ext cx="7772400" cy="242316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3079666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er w/video">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828800" y="1188720"/>
            <a:ext cx="5486400" cy="301752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62323931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669280" y="1554480"/>
            <a:ext cx="2743200" cy="1005840"/>
          </a:xfrm>
          <a:prstGeom prst="rect">
            <a:avLst/>
          </a:prstGeom>
        </p:spPr>
        <p:txBody>
          <a:bodyPr lIns="365760" r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669280" y="1188720"/>
            <a:ext cx="2743200" cy="215444"/>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640080" y="1188720"/>
            <a:ext cx="5029200" cy="28346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17414745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9144000" cy="4599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371600" y="1371600"/>
            <a:ext cx="6400800" cy="1846659"/>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4000" b="0" i="0" dirty="0">
                <a:solidFill>
                  <a:srgbClr val="2774AE"/>
                </a:solidFill>
                <a:latin typeface="Helvetica Regular" pitchFamily="2" charset="0"/>
              </a:rPr>
              <a:t>Lorem ipsum dolor sit </a:t>
            </a:r>
            <a:r>
              <a:rPr lang="en-US" sz="4000" b="0" i="0" dirty="0" err="1">
                <a:solidFill>
                  <a:srgbClr val="2774AE"/>
                </a:solidFill>
                <a:latin typeface="Helvetica Regular" pitchFamily="2" charset="0"/>
              </a:rPr>
              <a:t>amet</a:t>
            </a:r>
            <a:r>
              <a:rPr lang="en-US" sz="4000" b="0" i="0" dirty="0">
                <a:solidFill>
                  <a:srgbClr val="2774AE"/>
                </a:solidFill>
                <a:latin typeface="Helvetica Regular" pitchFamily="2" charset="0"/>
              </a:rPr>
              <a:t> ex </a:t>
            </a:r>
            <a:r>
              <a:rPr lang="en-US" sz="4000" b="0" i="0" dirty="0" err="1">
                <a:solidFill>
                  <a:srgbClr val="2774AE"/>
                </a:solidFill>
                <a:latin typeface="Helvetica Regular" pitchFamily="2" charset="0"/>
              </a:rPr>
              <a:t>eum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reque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graece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nam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harum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vonsequat</a:t>
            </a:r>
            <a:endParaRPr lang="en-US" sz="4000"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371600" y="1371600"/>
            <a:ext cx="6400800" cy="1665071"/>
          </a:xfrm>
        </p:spPr>
        <p:txBody>
          <a:bodyPr anchor="ctr" anchorCtr="0"/>
          <a:lstStyle>
            <a:lvl1pPr marL="0" indent="0" algn="ctr">
              <a:buNone/>
              <a:defRPr sz="4000">
                <a:solidFill>
                  <a:srgbClr val="2774AE"/>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417811289"/>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pPr algn="ctr"/>
            <a:r>
              <a:rPr lang="en-US" sz="3600" b="1" i="0" baseline="0" dirty="0">
                <a:solidFill>
                  <a:srgbClr val="58595B"/>
                </a:solidFill>
                <a:latin typeface="Helvetica" pitchFamily="2" charset="0"/>
              </a:rPr>
              <a:t>Q&amp;A</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Tree>
    <p:extLst>
      <p:ext uri="{BB962C8B-B14F-4D97-AF65-F5344CB8AC3E}">
        <p14:creationId xmlns:p14="http://schemas.microsoft.com/office/powerpoint/2010/main" val="36190825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2" name="Picture 1"/>
          <p:cNvPicPr>
            <a:picLocks noChangeAspect="1"/>
          </p:cNvPicPr>
          <p:nvPr userDrawn="1"/>
        </p:nvPicPr>
        <p:blipFill>
          <a:blip r:embed="rId2"/>
          <a:stretch>
            <a:fillRect/>
          </a:stretch>
        </p:blipFill>
        <p:spPr>
          <a:xfrm>
            <a:off x="2281646" y="2282017"/>
            <a:ext cx="4580708" cy="579466"/>
          </a:xfrm>
          <a:prstGeom prst="rect">
            <a:avLst/>
          </a:prstGeom>
        </p:spPr>
      </p:pic>
    </p:spTree>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371600" y="1407743"/>
            <a:ext cx="6400800" cy="1665071"/>
          </a:xfrm>
          <a:prstGeom prst="rect">
            <a:avLst/>
          </a:prstGeom>
        </p:spPr>
        <p:txBody>
          <a:bodyPr lIns="0" tIns="0" rIns="0" bIns="0" anchor="ctr" anchorCtr="0">
            <a:spAutoFit/>
          </a:bodyPr>
          <a:lstStyle>
            <a:lvl1pPr marL="0" indent="0" algn="ctr">
              <a:buNone/>
              <a:defRPr sz="4000">
                <a:solidFill>
                  <a:schemeClr val="bg1"/>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8983776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42900" y="4616606"/>
            <a:ext cx="1372689" cy="265966"/>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640080" y="821642"/>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640079" y="367401"/>
            <a:ext cx="7772400" cy="389979"/>
          </a:xfrm>
          <a:prstGeom prst="rect">
            <a:avLst/>
          </a:prstGeom>
        </p:spPr>
        <p:txBody>
          <a:bodyPr vert="horz" wrap="square" lIns="0" tIns="0" rIns="0" bIns="0" rtlCol="0" anchor="b" anchorCtr="0">
            <a:spAutoFit/>
          </a:bodyPr>
          <a:lstStyle/>
          <a:p>
            <a:r>
              <a:rPr lang="en-US" dirty="0"/>
              <a:t>Click to edit Master title</a:t>
            </a:r>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8686800" y="4754880"/>
            <a:ext cx="457200" cy="365760"/>
          </a:xfrm>
          <a:prstGeom prst="rect">
            <a:avLst/>
          </a:prstGeom>
        </p:spPr>
        <p:txBody>
          <a:bodyPr vert="horz" wrap="square" lIns="0" tIns="0" rIns="0" bIns="256032" rtlCol="0" anchor="t" anchorCtr="0">
            <a:spAutoFit/>
          </a:bodyPr>
          <a:lstStyle>
            <a:lvl1pPr algn="l">
              <a:lnSpc>
                <a:spcPct val="100000"/>
              </a:lnSpc>
              <a:defRPr sz="800" b="0" i="0">
                <a:solidFill>
                  <a:srgbClr val="898989"/>
                </a:solidFill>
                <a:latin typeface="Helvetica Regular" pitchFamily="2" charset="0"/>
              </a:defRPr>
            </a:lvl1p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097280" y="1188720"/>
            <a:ext cx="7315199" cy="1175771"/>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7186469"/>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8" r:id="rId13"/>
    <p:sldLayoutId id="2147483825" r:id="rId14"/>
    <p:sldLayoutId id="2147483826" r:id="rId15"/>
    <p:sldLayoutId id="2147483827" r:id="rId16"/>
    <p:sldLayoutId id="2147483829" r:id="rId17"/>
  </p:sldLayoutIdLst>
  <p:hf hdr="0" ftr="0"/>
  <p:txStyles>
    <p:title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rgbClr val="58595B"/>
          </a:solidFill>
          <a:latin typeface="+mn-lt"/>
          <a:ea typeface="+mn-ea"/>
          <a:cs typeface="+mn-cs"/>
        </a:defRPr>
      </a:lvl1pPr>
      <a:lvl2pPr marL="44805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baseline="0">
          <a:solidFill>
            <a:srgbClr val="58595B"/>
          </a:solidFill>
          <a:latin typeface="+mn-lt"/>
          <a:ea typeface="+mn-ea"/>
          <a:cs typeface="+mn-cs"/>
        </a:defRPr>
      </a:lvl2pPr>
      <a:lvl3pPr marL="72237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3pPr>
      <a:lvl4pPr marL="99669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a:solidFill>
            <a:srgbClr val="58595B"/>
          </a:solidFill>
          <a:latin typeface="+mn-lt"/>
          <a:ea typeface="+mn-ea"/>
          <a:cs typeface="+mn-cs"/>
        </a:defRPr>
      </a:lvl4pPr>
      <a:lvl5pPr marL="127101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5pPr>
      <a:lvl6pPr marL="628650" indent="-651510" algn="l" defTabSz="685800" rtl="0" eaLnBrk="1" latinLnBrk="0" hangingPunct="1">
        <a:lnSpc>
          <a:spcPct val="90000"/>
        </a:lnSpc>
        <a:spcBef>
          <a:spcPts val="0"/>
        </a:spcBef>
        <a:spcAft>
          <a:spcPts val="600"/>
        </a:spcAft>
        <a:buFont typeface="Arial" panose="020B0604020202020204" pitchFamily="34" charset="0"/>
        <a:buNone/>
        <a:defRPr sz="100" kern="1200">
          <a:solidFill>
            <a:schemeClr val="tx1"/>
          </a:solidFill>
          <a:latin typeface="+mn-lt"/>
          <a:ea typeface="+mn-ea"/>
          <a:cs typeface="+mn-cs"/>
        </a:defRPr>
      </a:lvl6pPr>
      <a:lvl7pPr marL="557784" indent="-194310" algn="l" defTabSz="685800" rtl="0" eaLnBrk="1" latinLnBrk="0" hangingPunct="1">
        <a:lnSpc>
          <a:spcPct val="90000"/>
        </a:lnSpc>
        <a:spcBef>
          <a:spcPts val="0"/>
        </a:spcBef>
        <a:spcAft>
          <a:spcPts val="600"/>
        </a:spcAft>
        <a:buFont typeface="Arial" panose="020B0604020202020204" pitchFamily="34" charset="0"/>
        <a:buChar char="•"/>
        <a:defRPr sz="5400" kern="1200">
          <a:solidFill>
            <a:schemeClr val="tx1"/>
          </a:solidFill>
          <a:latin typeface="+mn-lt"/>
          <a:ea typeface="+mn-ea"/>
          <a:cs typeface="+mn-cs"/>
        </a:defRPr>
      </a:lvl7pPr>
      <a:lvl8pPr marL="274320" indent="-171450" algn="l" defTabSz="685800" rtl="0" eaLnBrk="1" latinLnBrk="0" hangingPunct="1">
        <a:lnSpc>
          <a:spcPct val="90000"/>
        </a:lnSpc>
        <a:spcBef>
          <a:spcPts val="0"/>
        </a:spcBef>
        <a:spcAft>
          <a:spcPts val="600"/>
        </a:spcAft>
        <a:buFont typeface="Arial" panose="020B0604020202020204" pitchFamily="34" charset="0"/>
        <a:buChar char="•"/>
        <a:defRPr sz="1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41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0"/>
            <a:ext cx="9144000" cy="51365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685800" y="356673"/>
          <a:ext cx="7772400" cy="458139"/>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458139">
                <a:tc>
                  <a:txBody>
                    <a:bodyPr/>
                    <a:lstStyle/>
                    <a:p>
                      <a:pPr>
                        <a:lnSpc>
                          <a:spcPct val="100000"/>
                        </a:lnSpc>
                      </a:pPr>
                      <a:r>
                        <a:rPr lang="en-US" sz="2800" b="0" i="0" dirty="0">
                          <a:ln>
                            <a:noFill/>
                          </a:ln>
                          <a:solidFill>
                            <a:srgbClr val="58595B"/>
                          </a:solidFill>
                          <a:latin typeface="Helvetica Regular" pitchFamily="2" charset="0"/>
                          <a:cs typeface="Arial" panose="020B0604020202020204" pitchFamily="34" charset="0"/>
                        </a:rPr>
                        <a:t>Preferred Header Size</a:t>
                      </a:r>
                      <a:endParaRPr lang="en-US" sz="2800" b="0" i="0" dirty="0">
                        <a:ln>
                          <a:noFill/>
                        </a:ln>
                        <a:latin typeface="Helvetica Regular" pitchFamily="2" charset="0"/>
                      </a:endParaRPr>
                    </a:p>
                  </a:txBody>
                  <a:tcPr marL="0" marR="0" marT="0" marB="1828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4614411"/>
            <a:ext cx="1375528" cy="280937"/>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8686800" y="4754880"/>
            <a:ext cx="457200" cy="381643"/>
          </a:xfrm>
          <a:prstGeom prst="rect">
            <a:avLst/>
          </a:prstGeom>
        </p:spPr>
        <p:txBody>
          <a:bodyPr vert="horz" wrap="square" lIns="0" tIns="0" rIns="0" bIns="256032"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216462480"/>
      </p:ext>
    </p:extLst>
  </p:cSld>
  <p:clrMap bg1="lt1" tx1="dk1" bg2="lt2" tx2="dk2" accent1="accent1" accent2="accent2" accent3="accent3" accent4="accent4" accent5="accent5" accent6="accent6" hlink="hlink" folHlink="folHlink"/>
  <p:sldLayoutIdLst>
    <p:sldLayoutId id="2147483811" r:id="rId1"/>
  </p:sldLayoutIdLst>
  <p:hf hdr="0" ftr="0"/>
  <p:txStyles>
    <p:titleStyle>
      <a:lvl1pPr algn="l" defTabSz="685800" rtl="0" eaLnBrk="1" latinLnBrk="0" hangingPunct="1">
        <a:lnSpc>
          <a:spcPct val="90000"/>
        </a:lnSpc>
        <a:spcBef>
          <a:spcPct val="0"/>
        </a:spcBef>
        <a:buNone/>
        <a:defRPr sz="2800" b="1" i="0" kern="120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rgbClr val="58595B"/>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14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EE1D15-EA9A-FA4A-BE1F-2B9CAA596498}"/>
              </a:ext>
            </a:extLst>
          </p:cNvPr>
          <p:cNvSpPr>
            <a:spLocks noGrp="1"/>
          </p:cNvSpPr>
          <p:nvPr>
            <p:ph sz="quarter" idx="22"/>
          </p:nvPr>
        </p:nvSpPr>
        <p:spPr>
          <a:xfrm>
            <a:off x="640080" y="4664274"/>
            <a:ext cx="1988493" cy="166199"/>
          </a:xfrm>
        </p:spPr>
        <p:txBody>
          <a:bodyPr/>
          <a:lstStyle/>
          <a:p>
            <a:r>
              <a:rPr lang="en-US" dirty="0"/>
              <a:t>UCLA Math 279 Final Project</a:t>
            </a:r>
          </a:p>
        </p:txBody>
      </p:sp>
      <p:sp>
        <p:nvSpPr>
          <p:cNvPr id="11" name="Content Placeholder 10">
            <a:extLst>
              <a:ext uri="{FF2B5EF4-FFF2-40B4-BE49-F238E27FC236}">
                <a16:creationId xmlns:a16="http://schemas.microsoft.com/office/drawing/2014/main" id="{5B4A7A6C-6FF2-5644-AE82-53B6FDD0682B}"/>
              </a:ext>
            </a:extLst>
          </p:cNvPr>
          <p:cNvSpPr>
            <a:spLocks noGrp="1"/>
          </p:cNvSpPr>
          <p:nvPr>
            <p:ph sz="quarter" idx="23"/>
          </p:nvPr>
        </p:nvSpPr>
        <p:spPr>
          <a:xfrm>
            <a:off x="640080" y="4481394"/>
            <a:ext cx="804579" cy="166199"/>
          </a:xfrm>
        </p:spPr>
        <p:txBody>
          <a:bodyPr/>
          <a:lstStyle/>
          <a:p>
            <a:r>
              <a:rPr lang="en-US" dirty="0"/>
              <a:t>William Yao</a:t>
            </a:r>
          </a:p>
        </p:txBody>
      </p:sp>
      <p:pic>
        <p:nvPicPr>
          <p:cNvPr id="2" name="Picture Placeholder 1"/>
          <p:cNvPicPr>
            <a:picLocks noGrp="1" noChangeAspect="1"/>
          </p:cNvPicPr>
          <p:nvPr>
            <p:ph type="pic" sz="quarter" idx="24"/>
          </p:nvPr>
        </p:nvPicPr>
        <p:blipFill>
          <a:blip r:embed="rId2">
            <a:extLst>
              <a:ext uri="{28A0092B-C50C-407E-A947-70E740481C1C}">
                <a14:useLocalDpi xmlns:a14="http://schemas.microsoft.com/office/drawing/2010/main" val="0"/>
              </a:ext>
            </a:extLst>
          </a:blip>
          <a:stretch>
            <a:fillRect/>
          </a:stretch>
        </p:blipFill>
        <p:spPr>
          <a:xfrm>
            <a:off x="647700" y="481154"/>
            <a:ext cx="1992372" cy="386035"/>
          </a:xfrm>
        </p:spPr>
      </p:pic>
      <p:sp>
        <p:nvSpPr>
          <p:cNvPr id="10" name="Text Placeholder 9">
            <a:extLst>
              <a:ext uri="{FF2B5EF4-FFF2-40B4-BE49-F238E27FC236}">
                <a16:creationId xmlns:a16="http://schemas.microsoft.com/office/drawing/2014/main" id="{BBEAB19E-9D7C-FF4A-8C05-58A45714A95F}"/>
              </a:ext>
            </a:extLst>
          </p:cNvPr>
          <p:cNvSpPr>
            <a:spLocks noGrp="1"/>
          </p:cNvSpPr>
          <p:nvPr>
            <p:ph type="body" sz="quarter" idx="31"/>
          </p:nvPr>
        </p:nvSpPr>
        <p:spPr>
          <a:xfrm>
            <a:off x="640080" y="1945483"/>
            <a:ext cx="7772400" cy="997196"/>
          </a:xfrm>
        </p:spPr>
        <p:txBody>
          <a:bodyPr/>
          <a:lstStyle/>
          <a:p>
            <a:r>
              <a:rPr lang="en-US" dirty="0"/>
              <a:t>Conditioned Factor Predictability from Co-Trading Synchronization</a:t>
            </a:r>
          </a:p>
        </p:txBody>
      </p:sp>
    </p:spTree>
    <p:extLst>
      <p:ext uri="{BB962C8B-B14F-4D97-AF65-F5344CB8AC3E}">
        <p14:creationId xmlns:p14="http://schemas.microsoft.com/office/powerpoint/2010/main" val="92278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1097280" y="1554480"/>
            <a:ext cx="6858000" cy="2236510"/>
          </a:xfrm>
        </p:spPr>
        <p:txBody>
          <a:bodyPr/>
          <a:lstStyle/>
          <a:p>
            <a:pPr marL="285750" indent="-285750">
              <a:buFont typeface="Arial" panose="020B0604020202020204" pitchFamily="34" charset="0"/>
              <a:buChar char="•"/>
            </a:pPr>
            <a:r>
              <a:rPr lang="en-US" b="1" dirty="0"/>
              <a:t>ETF Predictability - </a:t>
            </a:r>
            <a:r>
              <a:rPr lang="en-US" dirty="0"/>
              <a:t>Do ETF returns predict stock returns in the cross section?</a:t>
            </a:r>
          </a:p>
          <a:p>
            <a:pPr marL="285750" indent="-285750">
              <a:buFont typeface="Arial" panose="020B0604020202020204" pitchFamily="34" charset="0"/>
              <a:buChar char="•"/>
            </a:pPr>
            <a:r>
              <a:rPr lang="en-US" b="1" dirty="0"/>
              <a:t>Synchronization Effect - </a:t>
            </a:r>
            <a:r>
              <a:rPr lang="en-US" dirty="0"/>
              <a:t>Does predictability depend on market-wide co-trading synchronization?</a:t>
            </a:r>
          </a:p>
          <a:p>
            <a:pPr marL="285750" indent="-285750">
              <a:buFont typeface="Arial" panose="020B0604020202020204" pitchFamily="34" charset="0"/>
              <a:buChar char="•"/>
            </a:pPr>
            <a:r>
              <a:rPr lang="en-US" b="1" dirty="0"/>
              <a:t>Timing &amp; Sign - </a:t>
            </a:r>
            <a:r>
              <a:rPr lang="en-US" dirty="0"/>
              <a:t>Does the effect appear as continuation or reversal, overnight or intraday?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19"/>
          </p:nvPr>
        </p:nvSpPr>
        <p:spPr/>
        <p:txBody>
          <a:bodyPr/>
          <a:lstStyle/>
          <a:p>
            <a:fld id="{B6238B5B-F19C-E947-A0BC-87BD7983F871}" type="slidenum">
              <a:rPr lang="en-US" smtClean="0"/>
              <a:pPr/>
              <a:t>2</a:t>
            </a:fld>
            <a:endParaRPr lang="en-US" dirty="0"/>
          </a:p>
        </p:txBody>
      </p:sp>
      <p:sp>
        <p:nvSpPr>
          <p:cNvPr id="5" name="Title 4"/>
          <p:cNvSpPr>
            <a:spLocks noGrp="1"/>
          </p:cNvSpPr>
          <p:nvPr>
            <p:ph type="title"/>
          </p:nvPr>
        </p:nvSpPr>
        <p:spPr>
          <a:xfrm>
            <a:off x="640077" y="369582"/>
            <a:ext cx="7772400" cy="387798"/>
          </a:xfrm>
        </p:spPr>
        <p:txBody>
          <a:bodyPr/>
          <a:lstStyle/>
          <a:p>
            <a:r>
              <a:rPr lang="en-US" dirty="0"/>
              <a:t>Core Question</a:t>
            </a:r>
          </a:p>
        </p:txBody>
      </p:sp>
      <p:sp>
        <p:nvSpPr>
          <p:cNvPr id="6" name="Text Placeholder 2">
            <a:extLst>
              <a:ext uri="{FF2B5EF4-FFF2-40B4-BE49-F238E27FC236}">
                <a16:creationId xmlns:a16="http://schemas.microsoft.com/office/drawing/2014/main" id="{396D216D-19C9-0919-A949-48ABF20613B1}"/>
              </a:ext>
            </a:extLst>
          </p:cNvPr>
          <p:cNvSpPr>
            <a:spLocks noGrp="1"/>
          </p:cNvSpPr>
          <p:nvPr>
            <p:ph type="body" sz="quarter" idx="15"/>
          </p:nvPr>
        </p:nvSpPr>
        <p:spPr>
          <a:xfrm>
            <a:off x="1097280" y="3244794"/>
            <a:ext cx="6858000" cy="533479"/>
          </a:xfrm>
        </p:spPr>
        <p:txBody>
          <a:bodyPr/>
          <a:lstStyle/>
          <a:p>
            <a:pPr>
              <a:buNone/>
            </a:pPr>
            <a:r>
              <a:rPr lang="en-US" dirty="0"/>
              <a:t>Core benchmark: </a:t>
            </a:r>
          </a:p>
          <a:p>
            <a:endParaRPr lang="en-US" dirty="0"/>
          </a:p>
        </p:txBody>
      </p:sp>
      <p:sp>
        <p:nvSpPr>
          <p:cNvPr id="8" name="Text Placeholder 1">
            <a:extLst>
              <a:ext uri="{FF2B5EF4-FFF2-40B4-BE49-F238E27FC236}">
                <a16:creationId xmlns:a16="http://schemas.microsoft.com/office/drawing/2014/main" id="{C24B9998-0F0D-2A06-AD73-378DA3183752}"/>
              </a:ext>
            </a:extLst>
          </p:cNvPr>
          <p:cNvSpPr txBox="1">
            <a:spLocks/>
          </p:cNvSpPr>
          <p:nvPr/>
        </p:nvSpPr>
        <p:spPr>
          <a:xfrm>
            <a:off x="1374243" y="3588526"/>
            <a:ext cx="6659438" cy="1384995"/>
          </a:xfrm>
          <a:prstGeom prst="rect">
            <a:avLst/>
          </a:prstGeom>
        </p:spPr>
        <p:txBody>
          <a:bodyPr vert="horz" wrap="square" lIns="0" tIns="0" rIns="0" bIns="0" rtlCol="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400" b="0" i="0" kern="1200" baseline="0">
                <a:solidFill>
                  <a:srgbClr val="58595B"/>
                </a:solidFill>
                <a:latin typeface="Helvetica Regular" pitchFamily="2" charset="0"/>
                <a:ea typeface="+mn-ea"/>
                <a:cs typeface="+mn-cs"/>
              </a:defRPr>
            </a:lvl1pPr>
            <a:lvl2pPr marL="44805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baseline="0">
                <a:solidFill>
                  <a:srgbClr val="58595B"/>
                </a:solidFill>
                <a:latin typeface="+mn-lt"/>
                <a:ea typeface="+mn-ea"/>
                <a:cs typeface="+mn-cs"/>
              </a:defRPr>
            </a:lvl2pPr>
            <a:lvl3pPr marL="72237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3pPr>
            <a:lvl4pPr marL="99669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a:solidFill>
                  <a:srgbClr val="58595B"/>
                </a:solidFill>
                <a:latin typeface="+mn-lt"/>
                <a:ea typeface="+mn-ea"/>
                <a:cs typeface="+mn-cs"/>
              </a:defRPr>
            </a:lvl4pPr>
            <a:lvl5pPr marL="127101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5pPr>
            <a:lvl6pPr marL="628650" indent="-651510" algn="l" defTabSz="685800" rtl="0" eaLnBrk="1" latinLnBrk="0" hangingPunct="1">
              <a:lnSpc>
                <a:spcPct val="90000"/>
              </a:lnSpc>
              <a:spcBef>
                <a:spcPts val="0"/>
              </a:spcBef>
              <a:spcAft>
                <a:spcPts val="600"/>
              </a:spcAft>
              <a:buFont typeface="Arial" panose="020B0604020202020204" pitchFamily="34" charset="0"/>
              <a:buNone/>
              <a:defRPr sz="100" kern="1200">
                <a:solidFill>
                  <a:schemeClr val="tx1"/>
                </a:solidFill>
                <a:latin typeface="+mn-lt"/>
                <a:ea typeface="+mn-ea"/>
                <a:cs typeface="+mn-cs"/>
              </a:defRPr>
            </a:lvl6pPr>
            <a:lvl7pPr marL="557784" indent="-194310" algn="l" defTabSz="685800" rtl="0" eaLnBrk="1" latinLnBrk="0" hangingPunct="1">
              <a:lnSpc>
                <a:spcPct val="90000"/>
              </a:lnSpc>
              <a:spcBef>
                <a:spcPts val="0"/>
              </a:spcBef>
              <a:spcAft>
                <a:spcPts val="600"/>
              </a:spcAft>
              <a:buFont typeface="Arial" panose="020B0604020202020204" pitchFamily="34" charset="0"/>
              <a:buChar char="•"/>
              <a:defRPr sz="5400" kern="1200">
                <a:solidFill>
                  <a:schemeClr val="tx1"/>
                </a:solidFill>
                <a:latin typeface="+mn-lt"/>
                <a:ea typeface="+mn-ea"/>
                <a:cs typeface="+mn-cs"/>
              </a:defRPr>
            </a:lvl7pPr>
            <a:lvl8pPr marL="274320" indent="-171450" algn="l" defTabSz="685800" rtl="0" eaLnBrk="1" latinLnBrk="0" hangingPunct="1">
              <a:lnSpc>
                <a:spcPct val="90000"/>
              </a:lnSpc>
              <a:spcBef>
                <a:spcPts val="0"/>
              </a:spcBef>
              <a:spcAft>
                <a:spcPts val="600"/>
              </a:spcAft>
              <a:buFont typeface="Arial" panose="020B0604020202020204" pitchFamily="34" charset="0"/>
              <a:buChar char="•"/>
              <a:defRPr sz="1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4150" kern="1200">
                <a:solidFill>
                  <a:schemeClr val="tx1"/>
                </a:solidFill>
                <a:latin typeface="+mn-lt"/>
                <a:ea typeface="+mn-ea"/>
                <a:cs typeface="+mn-cs"/>
              </a:defRPr>
            </a:lvl9pPr>
          </a:lstStyle>
          <a:p>
            <a:r>
              <a:rPr lang="en-US" dirty="0"/>
              <a:t>Stock close-to-close returns on ETF close-to-close predictors, with synchronization built from the full stock universe.</a:t>
            </a:r>
          </a:p>
          <a:p>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019388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A13DB-B5FA-A59C-D44E-0BA472C440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75953-0EE1-8DD1-8F98-F1CBB43DD5B3}"/>
              </a:ext>
            </a:extLst>
          </p:cNvPr>
          <p:cNvSpPr>
            <a:spLocks noGrp="1"/>
          </p:cNvSpPr>
          <p:nvPr>
            <p:ph type="sldNum" sz="quarter" idx="19"/>
          </p:nvPr>
        </p:nvSpPr>
        <p:spPr/>
        <p:txBody>
          <a:bodyPr/>
          <a:lstStyle/>
          <a:p>
            <a:fld id="{B6238B5B-F19C-E947-A0BC-87BD7983F871}" type="slidenum">
              <a:rPr lang="en-US" smtClean="0"/>
              <a:pPr/>
              <a:t>3</a:t>
            </a:fld>
            <a:endParaRPr lang="en-US" dirty="0"/>
          </a:p>
        </p:txBody>
      </p:sp>
      <p:sp>
        <p:nvSpPr>
          <p:cNvPr id="4" name="Text Placeholder 3">
            <a:extLst>
              <a:ext uri="{FF2B5EF4-FFF2-40B4-BE49-F238E27FC236}">
                <a16:creationId xmlns:a16="http://schemas.microsoft.com/office/drawing/2014/main" id="{D229083B-3002-A659-3A94-2D38A8D0D1C8}"/>
              </a:ext>
            </a:extLst>
          </p:cNvPr>
          <p:cNvSpPr>
            <a:spLocks noGrp="1"/>
          </p:cNvSpPr>
          <p:nvPr>
            <p:ph type="body" sz="quarter" idx="31"/>
          </p:nvPr>
        </p:nvSpPr>
        <p:spPr>
          <a:xfrm>
            <a:off x="640080" y="1897130"/>
            <a:ext cx="7772400" cy="498598"/>
          </a:xfrm>
        </p:spPr>
        <p:txBody>
          <a:bodyPr/>
          <a:lstStyle/>
          <a:p>
            <a:r>
              <a:rPr lang="en-US" dirty="0"/>
              <a:t>Methodology</a:t>
            </a:r>
          </a:p>
        </p:txBody>
      </p:sp>
    </p:spTree>
    <p:extLst>
      <p:ext uri="{BB962C8B-B14F-4D97-AF65-F5344CB8AC3E}">
        <p14:creationId xmlns:p14="http://schemas.microsoft.com/office/powerpoint/2010/main" val="2191371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0240B-7350-181E-9678-8D109DD8BE7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1D51F8C-3778-53F1-768C-B4943C34BB09}"/>
              </a:ext>
            </a:extLst>
          </p:cNvPr>
          <p:cNvSpPr>
            <a:spLocks noGrp="1"/>
          </p:cNvSpPr>
          <p:nvPr>
            <p:ph type="body" sz="quarter" idx="13"/>
          </p:nvPr>
        </p:nvSpPr>
        <p:spPr>
          <a:xfrm>
            <a:off x="1097280" y="1554480"/>
            <a:ext cx="6858000" cy="2123658"/>
          </a:xfrm>
        </p:spPr>
        <p:txBody>
          <a:bodyPr/>
          <a:lstStyle/>
          <a:p>
            <a:r>
              <a:rPr lang="en-US" b="1" dirty="0"/>
              <a:t>Sample Period</a:t>
            </a:r>
          </a:p>
          <a:p>
            <a:r>
              <a:rPr lang="en-US" dirty="0"/>
              <a:t>Rebuilt from 2000–2023 using adjusted prices.</a:t>
            </a:r>
          </a:p>
          <a:p>
            <a:r>
              <a:rPr lang="en-US" b="1" dirty="0"/>
              <a:t>Return Types</a:t>
            </a:r>
          </a:p>
          <a:p>
            <a:pPr marL="285750" indent="-285750">
              <a:buFont typeface="Arial" panose="020B0604020202020204" pitchFamily="34" charset="0"/>
              <a:buChar char="•"/>
            </a:pPr>
            <a:r>
              <a:rPr lang="en-US" b="1" dirty="0"/>
              <a:t>Close-to-close:</a:t>
            </a:r>
            <a:r>
              <a:rPr lang="en-US" dirty="0"/>
              <a:t> </a:t>
            </a:r>
          </a:p>
          <a:p>
            <a:pPr marL="285750" indent="-285750">
              <a:buFont typeface="Arial" panose="020B0604020202020204" pitchFamily="34" charset="0"/>
              <a:buChar char="•"/>
            </a:pPr>
            <a:r>
              <a:rPr lang="en-US" b="1" dirty="0"/>
              <a:t>Overnight:</a:t>
            </a:r>
            <a:r>
              <a:rPr lang="en-US" dirty="0"/>
              <a:t> </a:t>
            </a:r>
          </a:p>
          <a:p>
            <a:pPr marL="285750" indent="-285750">
              <a:buFont typeface="Arial" panose="020B0604020202020204" pitchFamily="34" charset="0"/>
              <a:buChar char="•"/>
            </a:pPr>
            <a:r>
              <a:rPr lang="en-US" b="1" dirty="0"/>
              <a:t>Intraday:</a:t>
            </a:r>
            <a:r>
              <a:rPr lang="en-US" dirty="0"/>
              <a:t> </a:t>
            </a:r>
          </a:p>
          <a:p>
            <a:endParaRPr lang="en-US" dirty="0"/>
          </a:p>
        </p:txBody>
      </p:sp>
      <p:sp>
        <p:nvSpPr>
          <p:cNvPr id="4" name="Slide Number Placeholder 3">
            <a:extLst>
              <a:ext uri="{FF2B5EF4-FFF2-40B4-BE49-F238E27FC236}">
                <a16:creationId xmlns:a16="http://schemas.microsoft.com/office/drawing/2014/main" id="{C7052482-4C0C-DFA6-16E0-D32A2818B24B}"/>
              </a:ext>
            </a:extLst>
          </p:cNvPr>
          <p:cNvSpPr>
            <a:spLocks noGrp="1"/>
          </p:cNvSpPr>
          <p:nvPr>
            <p:ph type="sldNum" sz="quarter" idx="19"/>
          </p:nvPr>
        </p:nvSpPr>
        <p:spPr/>
        <p:txBody>
          <a:bodyPr/>
          <a:lstStyle/>
          <a:p>
            <a:fld id="{B6238B5B-F19C-E947-A0BC-87BD7983F871}" type="slidenum">
              <a:rPr lang="en-US" smtClean="0"/>
              <a:pPr/>
              <a:t>4</a:t>
            </a:fld>
            <a:endParaRPr lang="en-US" dirty="0"/>
          </a:p>
        </p:txBody>
      </p:sp>
      <p:sp>
        <p:nvSpPr>
          <p:cNvPr id="5" name="Title 4">
            <a:extLst>
              <a:ext uri="{FF2B5EF4-FFF2-40B4-BE49-F238E27FC236}">
                <a16:creationId xmlns:a16="http://schemas.microsoft.com/office/drawing/2014/main" id="{D1CECBD6-65EF-5A07-604F-4D6EFAA450A8}"/>
              </a:ext>
            </a:extLst>
          </p:cNvPr>
          <p:cNvSpPr>
            <a:spLocks noGrp="1"/>
          </p:cNvSpPr>
          <p:nvPr>
            <p:ph type="title"/>
          </p:nvPr>
        </p:nvSpPr>
        <p:spPr/>
        <p:txBody>
          <a:bodyPr/>
          <a:lstStyle/>
          <a:p>
            <a:r>
              <a:rPr lang="en-US" dirty="0"/>
              <a:t>Data and Return Construction</a:t>
            </a:r>
          </a:p>
        </p:txBody>
      </p:sp>
      <p:pic>
        <p:nvPicPr>
          <p:cNvPr id="7" name="Picture 6">
            <a:extLst>
              <a:ext uri="{FF2B5EF4-FFF2-40B4-BE49-F238E27FC236}">
                <a16:creationId xmlns:a16="http://schemas.microsoft.com/office/drawing/2014/main" id="{D50F4D88-694D-2C07-A2C2-C02C9AF7978E}"/>
              </a:ext>
            </a:extLst>
          </p:cNvPr>
          <p:cNvPicPr>
            <a:picLocks noChangeAspect="1"/>
          </p:cNvPicPr>
          <p:nvPr/>
        </p:nvPicPr>
        <p:blipFill>
          <a:blip r:embed="rId2"/>
          <a:stretch>
            <a:fillRect/>
          </a:stretch>
        </p:blipFill>
        <p:spPr>
          <a:xfrm>
            <a:off x="2759057" y="2437966"/>
            <a:ext cx="1824092" cy="1076924"/>
          </a:xfrm>
          <a:prstGeom prst="rect">
            <a:avLst/>
          </a:prstGeom>
        </p:spPr>
      </p:pic>
      <p:pic>
        <p:nvPicPr>
          <p:cNvPr id="9" name="Picture 8">
            <a:extLst>
              <a:ext uri="{FF2B5EF4-FFF2-40B4-BE49-F238E27FC236}">
                <a16:creationId xmlns:a16="http://schemas.microsoft.com/office/drawing/2014/main" id="{C8ADDCB5-62E8-6776-3459-B8422B275F1D}"/>
              </a:ext>
            </a:extLst>
          </p:cNvPr>
          <p:cNvPicPr>
            <a:picLocks noChangeAspect="1"/>
          </p:cNvPicPr>
          <p:nvPr/>
        </p:nvPicPr>
        <p:blipFill>
          <a:blip r:embed="rId3"/>
          <a:stretch>
            <a:fillRect/>
          </a:stretch>
        </p:blipFill>
        <p:spPr>
          <a:xfrm>
            <a:off x="4968415" y="1777196"/>
            <a:ext cx="3810881" cy="1589108"/>
          </a:xfrm>
          <a:prstGeom prst="rect">
            <a:avLst/>
          </a:prstGeom>
        </p:spPr>
      </p:pic>
    </p:spTree>
    <p:extLst>
      <p:ext uri="{BB962C8B-B14F-4D97-AF65-F5344CB8AC3E}">
        <p14:creationId xmlns:p14="http://schemas.microsoft.com/office/powerpoint/2010/main" val="2177382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CA662-1B08-C0B5-876C-BBDBCE18AE4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3BBD45-83B3-D296-8326-5C72F3AE33D5}"/>
              </a:ext>
            </a:extLst>
          </p:cNvPr>
          <p:cNvSpPr>
            <a:spLocks noGrp="1"/>
          </p:cNvSpPr>
          <p:nvPr>
            <p:ph type="sldNum" sz="quarter" idx="19"/>
          </p:nvPr>
        </p:nvSpPr>
        <p:spPr/>
        <p:txBody>
          <a:bodyPr/>
          <a:lstStyle/>
          <a:p>
            <a:fld id="{B6238B5B-F19C-E947-A0BC-87BD7983F871}" type="slidenum">
              <a:rPr lang="en-US" smtClean="0"/>
              <a:pPr/>
              <a:t>5</a:t>
            </a:fld>
            <a:endParaRPr lang="en-US" dirty="0"/>
          </a:p>
        </p:txBody>
      </p:sp>
      <p:sp>
        <p:nvSpPr>
          <p:cNvPr id="5" name="Title 4">
            <a:extLst>
              <a:ext uri="{FF2B5EF4-FFF2-40B4-BE49-F238E27FC236}">
                <a16:creationId xmlns:a16="http://schemas.microsoft.com/office/drawing/2014/main" id="{9DEA6D81-A36C-0969-EE53-6E2F2D7ACD27}"/>
              </a:ext>
            </a:extLst>
          </p:cNvPr>
          <p:cNvSpPr>
            <a:spLocks noGrp="1"/>
          </p:cNvSpPr>
          <p:nvPr>
            <p:ph type="title"/>
          </p:nvPr>
        </p:nvSpPr>
        <p:spPr/>
        <p:txBody>
          <a:bodyPr/>
          <a:lstStyle/>
          <a:p>
            <a:r>
              <a:rPr lang="en-US" dirty="0"/>
              <a:t>HAR Aggregation</a:t>
            </a:r>
          </a:p>
        </p:txBody>
      </p:sp>
      <p:pic>
        <p:nvPicPr>
          <p:cNvPr id="10" name="Picture 9">
            <a:extLst>
              <a:ext uri="{FF2B5EF4-FFF2-40B4-BE49-F238E27FC236}">
                <a16:creationId xmlns:a16="http://schemas.microsoft.com/office/drawing/2014/main" id="{284D973E-322A-C260-D15E-AF4EEAEEA61F}"/>
              </a:ext>
            </a:extLst>
          </p:cNvPr>
          <p:cNvPicPr>
            <a:picLocks noChangeAspect="1"/>
          </p:cNvPicPr>
          <p:nvPr/>
        </p:nvPicPr>
        <p:blipFill>
          <a:blip r:embed="rId2"/>
          <a:stretch>
            <a:fillRect/>
          </a:stretch>
        </p:blipFill>
        <p:spPr>
          <a:xfrm>
            <a:off x="3190029" y="1026199"/>
            <a:ext cx="2372056" cy="2152950"/>
          </a:xfrm>
          <a:prstGeom prst="rect">
            <a:avLst/>
          </a:prstGeom>
        </p:spPr>
      </p:pic>
      <p:sp>
        <p:nvSpPr>
          <p:cNvPr id="11" name="Text Placeholder 1">
            <a:extLst>
              <a:ext uri="{FF2B5EF4-FFF2-40B4-BE49-F238E27FC236}">
                <a16:creationId xmlns:a16="http://schemas.microsoft.com/office/drawing/2014/main" id="{6E935BF3-752A-0F75-E73D-FF064BBADBC0}"/>
              </a:ext>
            </a:extLst>
          </p:cNvPr>
          <p:cNvSpPr>
            <a:spLocks noGrp="1"/>
          </p:cNvSpPr>
          <p:nvPr>
            <p:ph type="body" sz="quarter" idx="13"/>
          </p:nvPr>
        </p:nvSpPr>
        <p:spPr>
          <a:xfrm>
            <a:off x="1097277" y="3447968"/>
            <a:ext cx="6858000" cy="430887"/>
          </a:xfrm>
        </p:spPr>
        <p:txBody>
          <a:bodyPr/>
          <a:lstStyle/>
          <a:p>
            <a:r>
              <a:rPr lang="en-US" dirty="0"/>
              <a:t>These transformed series are built separately for stock returns and ETF returns, and separately for close-to-close, close-to-open, and open-to-close returns where relevant.</a:t>
            </a:r>
          </a:p>
        </p:txBody>
      </p:sp>
    </p:spTree>
    <p:extLst>
      <p:ext uri="{BB962C8B-B14F-4D97-AF65-F5344CB8AC3E}">
        <p14:creationId xmlns:p14="http://schemas.microsoft.com/office/powerpoint/2010/main" val="3531209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B3D35-D280-E550-D0F1-AF9A2D5EE3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226BF3-C9ED-82D7-E56C-53B3EBAA76E1}"/>
              </a:ext>
            </a:extLst>
          </p:cNvPr>
          <p:cNvSpPr>
            <a:spLocks noGrp="1"/>
          </p:cNvSpPr>
          <p:nvPr>
            <p:ph type="body" sz="quarter" idx="13"/>
          </p:nvPr>
        </p:nvSpPr>
        <p:spPr>
          <a:xfrm>
            <a:off x="1097280" y="1554480"/>
            <a:ext cx="6858000" cy="1169551"/>
          </a:xfrm>
        </p:spPr>
        <p:txBody>
          <a:bodyPr/>
          <a:lstStyle/>
          <a:p>
            <a:pPr marL="285750" indent="-285750">
              <a:buFont typeface="Arial" panose="020B0604020202020204" pitchFamily="34" charset="0"/>
              <a:buChar char="•"/>
            </a:pPr>
            <a:r>
              <a:rPr lang="en-US" dirty="0"/>
              <a:t>Standardize stock-level abnormal volume</a:t>
            </a:r>
          </a:p>
          <a:p>
            <a:pPr marL="285750" indent="-285750">
              <a:buFont typeface="Arial" panose="020B0604020202020204" pitchFamily="34" charset="0"/>
              <a:buChar char="•"/>
            </a:pPr>
            <a:r>
              <a:rPr lang="en-US" dirty="0"/>
              <a:t>Keep only unusually large shocks.</a:t>
            </a:r>
          </a:p>
          <a:p>
            <a:pPr marL="285750" indent="-285750">
              <a:buFont typeface="Arial" panose="020B0604020202020204" pitchFamily="34" charset="0"/>
              <a:buChar char="•"/>
            </a:pPr>
            <a:r>
              <a:rPr lang="en-US" dirty="0"/>
              <a:t>Aggregate squared shocks across stocks</a:t>
            </a:r>
          </a:p>
          <a:p>
            <a:pPr marL="285750" indent="-285750">
              <a:buFont typeface="Arial" panose="020B0604020202020204" pitchFamily="34" charset="0"/>
              <a:buChar char="•"/>
            </a:pPr>
            <a:r>
              <a:rPr lang="en-US" dirty="0"/>
              <a:t>Define high synchronization as the top 20% of days.</a:t>
            </a:r>
          </a:p>
        </p:txBody>
      </p:sp>
      <p:sp>
        <p:nvSpPr>
          <p:cNvPr id="4" name="Slide Number Placeholder 3">
            <a:extLst>
              <a:ext uri="{FF2B5EF4-FFF2-40B4-BE49-F238E27FC236}">
                <a16:creationId xmlns:a16="http://schemas.microsoft.com/office/drawing/2014/main" id="{C4F2A4AB-7CA4-9F3B-5575-BB8805DF2121}"/>
              </a:ext>
            </a:extLst>
          </p:cNvPr>
          <p:cNvSpPr>
            <a:spLocks noGrp="1"/>
          </p:cNvSpPr>
          <p:nvPr>
            <p:ph type="sldNum" sz="quarter" idx="19"/>
          </p:nvPr>
        </p:nvSpPr>
        <p:spPr/>
        <p:txBody>
          <a:bodyPr/>
          <a:lstStyle/>
          <a:p>
            <a:fld id="{B6238B5B-F19C-E947-A0BC-87BD7983F871}" type="slidenum">
              <a:rPr lang="en-US" smtClean="0"/>
              <a:pPr/>
              <a:t>6</a:t>
            </a:fld>
            <a:endParaRPr lang="en-US" dirty="0"/>
          </a:p>
        </p:txBody>
      </p:sp>
      <p:sp>
        <p:nvSpPr>
          <p:cNvPr id="5" name="Title 4">
            <a:extLst>
              <a:ext uri="{FF2B5EF4-FFF2-40B4-BE49-F238E27FC236}">
                <a16:creationId xmlns:a16="http://schemas.microsoft.com/office/drawing/2014/main" id="{381A45E7-3428-9CA6-4A3E-007C4110B46F}"/>
              </a:ext>
            </a:extLst>
          </p:cNvPr>
          <p:cNvSpPr>
            <a:spLocks noGrp="1"/>
          </p:cNvSpPr>
          <p:nvPr>
            <p:ph type="title"/>
          </p:nvPr>
        </p:nvSpPr>
        <p:spPr/>
        <p:txBody>
          <a:bodyPr/>
          <a:lstStyle/>
          <a:p>
            <a:r>
              <a:rPr lang="en-US" dirty="0"/>
              <a:t>Synchronization Measure</a:t>
            </a:r>
          </a:p>
        </p:txBody>
      </p:sp>
      <p:pic>
        <p:nvPicPr>
          <p:cNvPr id="7" name="Picture 6">
            <a:extLst>
              <a:ext uri="{FF2B5EF4-FFF2-40B4-BE49-F238E27FC236}">
                <a16:creationId xmlns:a16="http://schemas.microsoft.com/office/drawing/2014/main" id="{B644CC3D-C07F-7F76-DC8B-528768D7266A}"/>
              </a:ext>
            </a:extLst>
          </p:cNvPr>
          <p:cNvPicPr>
            <a:picLocks noChangeAspect="1"/>
          </p:cNvPicPr>
          <p:nvPr/>
        </p:nvPicPr>
        <p:blipFill>
          <a:blip r:embed="rId2"/>
          <a:stretch>
            <a:fillRect/>
          </a:stretch>
        </p:blipFill>
        <p:spPr>
          <a:xfrm>
            <a:off x="2563491" y="2874347"/>
            <a:ext cx="3785757" cy="1735708"/>
          </a:xfrm>
          <a:prstGeom prst="rect">
            <a:avLst/>
          </a:prstGeom>
        </p:spPr>
      </p:pic>
    </p:spTree>
    <p:extLst>
      <p:ext uri="{BB962C8B-B14F-4D97-AF65-F5344CB8AC3E}">
        <p14:creationId xmlns:p14="http://schemas.microsoft.com/office/powerpoint/2010/main" val="3131214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205BA-8B74-264D-C621-C76ADE4C54D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D7FEDA-36A3-BB23-1C7F-884A41290D30}"/>
              </a:ext>
            </a:extLst>
          </p:cNvPr>
          <p:cNvSpPr>
            <a:spLocks noGrp="1"/>
          </p:cNvSpPr>
          <p:nvPr>
            <p:ph type="body" sz="quarter" idx="13"/>
          </p:nvPr>
        </p:nvSpPr>
        <p:spPr>
          <a:xfrm>
            <a:off x="1097280" y="1554480"/>
            <a:ext cx="6858000" cy="1169551"/>
          </a:xfrm>
        </p:spPr>
        <p:txBody>
          <a:bodyPr/>
          <a:lstStyle/>
          <a:p>
            <a:pPr marL="285750" indent="-285750">
              <a:buFont typeface="Arial" panose="020B0604020202020204" pitchFamily="34" charset="0"/>
              <a:buChar char="•"/>
            </a:pPr>
            <a:r>
              <a:rPr lang="en-US" dirty="0"/>
              <a:t>Target: stock close-to-close return</a:t>
            </a:r>
          </a:p>
          <a:p>
            <a:pPr marL="285750" indent="-285750">
              <a:buFont typeface="Arial" panose="020B0604020202020204" pitchFamily="34" charset="0"/>
              <a:buChar char="•"/>
            </a:pPr>
            <a:r>
              <a:rPr lang="en-US" dirty="0"/>
              <a:t>Predictors: stock HAR controls plus ETF close-to-close HAR terms</a:t>
            </a:r>
          </a:p>
          <a:p>
            <a:pPr marL="285750" indent="-285750">
              <a:buFont typeface="Arial" panose="020B0604020202020204" pitchFamily="34" charset="0"/>
              <a:buChar char="•"/>
            </a:pPr>
            <a:r>
              <a:rPr lang="en-US" dirty="0"/>
              <a:t>Key interaction: ETF predictors times market-wide high synchronization</a:t>
            </a:r>
          </a:p>
          <a:p>
            <a:pPr marL="285750" indent="-285750">
              <a:buFont typeface="Arial" panose="020B0604020202020204" pitchFamily="34" charset="0"/>
              <a:buChar char="•"/>
            </a:pPr>
            <a:r>
              <a:rPr lang="en-US" dirty="0"/>
              <a:t>Emphasis on signs and relative magnitudes rather than naive pooled t-statistics.</a:t>
            </a:r>
          </a:p>
        </p:txBody>
      </p:sp>
      <p:sp>
        <p:nvSpPr>
          <p:cNvPr id="4" name="Slide Number Placeholder 3">
            <a:extLst>
              <a:ext uri="{FF2B5EF4-FFF2-40B4-BE49-F238E27FC236}">
                <a16:creationId xmlns:a16="http://schemas.microsoft.com/office/drawing/2014/main" id="{5779F5C7-B465-1C87-3FD3-916753AC791C}"/>
              </a:ext>
            </a:extLst>
          </p:cNvPr>
          <p:cNvSpPr>
            <a:spLocks noGrp="1"/>
          </p:cNvSpPr>
          <p:nvPr>
            <p:ph type="sldNum" sz="quarter" idx="19"/>
          </p:nvPr>
        </p:nvSpPr>
        <p:spPr/>
        <p:txBody>
          <a:bodyPr/>
          <a:lstStyle/>
          <a:p>
            <a:fld id="{B6238B5B-F19C-E947-A0BC-87BD7983F871}" type="slidenum">
              <a:rPr lang="en-US" smtClean="0"/>
              <a:pPr/>
              <a:t>7</a:t>
            </a:fld>
            <a:endParaRPr lang="en-US" dirty="0"/>
          </a:p>
        </p:txBody>
      </p:sp>
      <p:sp>
        <p:nvSpPr>
          <p:cNvPr id="5" name="Title 4">
            <a:extLst>
              <a:ext uri="{FF2B5EF4-FFF2-40B4-BE49-F238E27FC236}">
                <a16:creationId xmlns:a16="http://schemas.microsoft.com/office/drawing/2014/main" id="{BF5D5633-D716-A8E7-3AF4-537720FC6FC9}"/>
              </a:ext>
            </a:extLst>
          </p:cNvPr>
          <p:cNvSpPr>
            <a:spLocks noGrp="1"/>
          </p:cNvSpPr>
          <p:nvPr>
            <p:ph type="title"/>
          </p:nvPr>
        </p:nvSpPr>
        <p:spPr/>
        <p:txBody>
          <a:bodyPr/>
          <a:lstStyle/>
          <a:p>
            <a:r>
              <a:rPr lang="en-US" dirty="0"/>
              <a:t>Benchmark Design</a:t>
            </a:r>
          </a:p>
        </p:txBody>
      </p:sp>
      <p:pic>
        <p:nvPicPr>
          <p:cNvPr id="7" name="Picture 6">
            <a:extLst>
              <a:ext uri="{FF2B5EF4-FFF2-40B4-BE49-F238E27FC236}">
                <a16:creationId xmlns:a16="http://schemas.microsoft.com/office/drawing/2014/main" id="{88900CF7-B9A2-82AA-129A-439FE5C8CC76}"/>
              </a:ext>
            </a:extLst>
          </p:cNvPr>
          <p:cNvPicPr>
            <a:picLocks noChangeAspect="1"/>
          </p:cNvPicPr>
          <p:nvPr/>
        </p:nvPicPr>
        <p:blipFill>
          <a:blip r:embed="rId2"/>
          <a:stretch>
            <a:fillRect/>
          </a:stretch>
        </p:blipFill>
        <p:spPr>
          <a:xfrm>
            <a:off x="1097280" y="2856170"/>
            <a:ext cx="6532413" cy="1419003"/>
          </a:xfrm>
          <a:prstGeom prst="rect">
            <a:avLst/>
          </a:prstGeom>
        </p:spPr>
      </p:pic>
    </p:spTree>
    <p:extLst>
      <p:ext uri="{BB962C8B-B14F-4D97-AF65-F5344CB8AC3E}">
        <p14:creationId xmlns:p14="http://schemas.microsoft.com/office/powerpoint/2010/main" val="190434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9"/>
          </p:nvPr>
        </p:nvSpPr>
        <p:spPr/>
        <p:txBody>
          <a:bodyPr/>
          <a:lstStyle/>
          <a:p>
            <a:fld id="{B6238B5B-F19C-E947-A0BC-87BD7983F871}" type="slidenum">
              <a:rPr lang="en-US" smtClean="0"/>
              <a:pPr/>
              <a:t>8</a:t>
            </a:fld>
            <a:endParaRPr lang="en-US" dirty="0"/>
          </a:p>
        </p:txBody>
      </p:sp>
      <p:sp>
        <p:nvSpPr>
          <p:cNvPr id="3" name="Text Placeholder 2"/>
          <p:cNvSpPr>
            <a:spLocks noGrp="1"/>
          </p:cNvSpPr>
          <p:nvPr>
            <p:ph type="body" sz="quarter" idx="20"/>
          </p:nvPr>
        </p:nvSpPr>
        <p:spPr/>
        <p:txBody>
          <a:bodyPr/>
          <a:lstStyle/>
          <a:p>
            <a:endParaRPr lang="en-US"/>
          </a:p>
        </p:txBody>
      </p:sp>
      <p:sp>
        <p:nvSpPr>
          <p:cNvPr id="4" name="Text Placeholder 3"/>
          <p:cNvSpPr>
            <a:spLocks noGrp="1"/>
          </p:cNvSpPr>
          <p:nvPr>
            <p:ph type="body" sz="quarter" idx="31"/>
          </p:nvPr>
        </p:nvSpPr>
        <p:spPr/>
        <p:txBody>
          <a:bodyPr/>
          <a:lstStyle/>
          <a:p>
            <a:r>
              <a:rPr lang="en-US" dirty="0"/>
              <a:t>Results</a:t>
            </a:r>
          </a:p>
        </p:txBody>
      </p:sp>
    </p:spTree>
    <p:extLst>
      <p:ext uri="{BB962C8B-B14F-4D97-AF65-F5344CB8AC3E}">
        <p14:creationId xmlns:p14="http://schemas.microsoft.com/office/powerpoint/2010/main" val="112203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AD43-F7D3-418C-D27F-0E171023667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BE8558-F2DB-EE19-B7D7-38163106A122}"/>
              </a:ext>
            </a:extLst>
          </p:cNvPr>
          <p:cNvSpPr>
            <a:spLocks noGrp="1"/>
          </p:cNvSpPr>
          <p:nvPr>
            <p:ph type="body" sz="quarter" idx="13"/>
          </p:nvPr>
        </p:nvSpPr>
        <p:spPr>
          <a:xfrm>
            <a:off x="1097280" y="1554480"/>
            <a:ext cx="6858000" cy="1169551"/>
          </a:xfrm>
        </p:spPr>
        <p:txBody>
          <a:bodyPr/>
          <a:lstStyle/>
          <a:p>
            <a:pPr marL="285750" indent="-285750">
              <a:buFont typeface="Arial" panose="020B0604020202020204" pitchFamily="34" charset="0"/>
              <a:buChar char="•"/>
            </a:pPr>
            <a:r>
              <a:rPr lang="en-US" dirty="0"/>
              <a:t>Low synchronization: weak daily continuation</a:t>
            </a:r>
          </a:p>
          <a:p>
            <a:pPr marL="285750" indent="-285750">
              <a:buFont typeface="Arial" panose="020B0604020202020204" pitchFamily="34" charset="0"/>
              <a:buChar char="•"/>
            </a:pPr>
            <a:r>
              <a:rPr lang="en-US" dirty="0"/>
              <a:t>High synchronization: strong daily reversal for equity ETFs</a:t>
            </a:r>
          </a:p>
          <a:p>
            <a:pPr marL="285750" indent="-285750">
              <a:buFont typeface="Arial" panose="020B0604020202020204" pitchFamily="34" charset="0"/>
              <a:buChar char="•"/>
            </a:pPr>
            <a:r>
              <a:rPr lang="en-US" dirty="0"/>
              <a:t>Weekly and monthly effects become more positive in high synchronization</a:t>
            </a:r>
          </a:p>
          <a:p>
            <a:pPr marL="285750" indent="-285750">
              <a:buFont typeface="Arial" panose="020B0604020202020204" pitchFamily="34" charset="0"/>
              <a:buChar char="•"/>
            </a:pPr>
            <a:r>
              <a:rPr lang="en-US" dirty="0"/>
              <a:t>TLT behaves differently from the equity ETFs.</a:t>
            </a:r>
          </a:p>
        </p:txBody>
      </p:sp>
      <p:sp>
        <p:nvSpPr>
          <p:cNvPr id="4" name="Slide Number Placeholder 3">
            <a:extLst>
              <a:ext uri="{FF2B5EF4-FFF2-40B4-BE49-F238E27FC236}">
                <a16:creationId xmlns:a16="http://schemas.microsoft.com/office/drawing/2014/main" id="{7F31E414-3210-8609-D728-0691D825DDA8}"/>
              </a:ext>
            </a:extLst>
          </p:cNvPr>
          <p:cNvSpPr>
            <a:spLocks noGrp="1"/>
          </p:cNvSpPr>
          <p:nvPr>
            <p:ph type="sldNum" sz="quarter" idx="19"/>
          </p:nvPr>
        </p:nvSpPr>
        <p:spPr/>
        <p:txBody>
          <a:bodyPr/>
          <a:lstStyle/>
          <a:p>
            <a:fld id="{B6238B5B-F19C-E947-A0BC-87BD7983F871}" type="slidenum">
              <a:rPr lang="en-US" smtClean="0"/>
              <a:pPr/>
              <a:t>9</a:t>
            </a:fld>
            <a:endParaRPr lang="en-US" dirty="0"/>
          </a:p>
        </p:txBody>
      </p:sp>
      <p:sp>
        <p:nvSpPr>
          <p:cNvPr id="5" name="Title 4">
            <a:extLst>
              <a:ext uri="{FF2B5EF4-FFF2-40B4-BE49-F238E27FC236}">
                <a16:creationId xmlns:a16="http://schemas.microsoft.com/office/drawing/2014/main" id="{648D2625-96CD-58E2-84FA-CD33E7C9294E}"/>
              </a:ext>
            </a:extLst>
          </p:cNvPr>
          <p:cNvSpPr>
            <a:spLocks noGrp="1"/>
          </p:cNvSpPr>
          <p:nvPr>
            <p:ph type="title"/>
          </p:nvPr>
        </p:nvSpPr>
        <p:spPr/>
        <p:txBody>
          <a:bodyPr/>
          <a:lstStyle/>
          <a:p>
            <a:r>
              <a:rPr lang="en-US" dirty="0"/>
              <a:t>Main Benchmark Result</a:t>
            </a:r>
          </a:p>
        </p:txBody>
      </p:sp>
      <p:pic>
        <p:nvPicPr>
          <p:cNvPr id="7" name="Picture 6">
            <a:extLst>
              <a:ext uri="{FF2B5EF4-FFF2-40B4-BE49-F238E27FC236}">
                <a16:creationId xmlns:a16="http://schemas.microsoft.com/office/drawing/2014/main" id="{6EE09ABF-D67F-8068-4995-30BC615B3560}"/>
              </a:ext>
            </a:extLst>
          </p:cNvPr>
          <p:cNvPicPr>
            <a:picLocks noChangeAspect="1"/>
          </p:cNvPicPr>
          <p:nvPr/>
        </p:nvPicPr>
        <p:blipFill>
          <a:blip r:embed="rId2"/>
          <a:stretch>
            <a:fillRect/>
          </a:stretch>
        </p:blipFill>
        <p:spPr>
          <a:xfrm>
            <a:off x="376051" y="924269"/>
            <a:ext cx="9598729" cy="3599523"/>
          </a:xfrm>
          <a:prstGeom prst="rect">
            <a:avLst/>
          </a:prstGeom>
        </p:spPr>
      </p:pic>
    </p:spTree>
    <p:extLst>
      <p:ext uri="{BB962C8B-B14F-4D97-AF65-F5344CB8AC3E}">
        <p14:creationId xmlns:p14="http://schemas.microsoft.com/office/powerpoint/2010/main" val="413069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EC61-17B8-8149-6030-591AEC30DEA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51E34B-DA4C-7A3F-1531-B1EAB32823EA}"/>
              </a:ext>
            </a:extLst>
          </p:cNvPr>
          <p:cNvSpPr>
            <a:spLocks noGrp="1"/>
          </p:cNvSpPr>
          <p:nvPr>
            <p:ph type="sldNum" sz="quarter" idx="19"/>
          </p:nvPr>
        </p:nvSpPr>
        <p:spPr/>
        <p:txBody>
          <a:bodyPr/>
          <a:lstStyle/>
          <a:p>
            <a:fld id="{B6238B5B-F19C-E947-A0BC-87BD7983F871}" type="slidenum">
              <a:rPr lang="en-US" smtClean="0"/>
              <a:pPr/>
              <a:t>10</a:t>
            </a:fld>
            <a:endParaRPr lang="en-US" dirty="0"/>
          </a:p>
        </p:txBody>
      </p:sp>
      <p:sp>
        <p:nvSpPr>
          <p:cNvPr id="5" name="Title 4">
            <a:extLst>
              <a:ext uri="{FF2B5EF4-FFF2-40B4-BE49-F238E27FC236}">
                <a16:creationId xmlns:a16="http://schemas.microsoft.com/office/drawing/2014/main" id="{A74299A6-033E-A4CB-FFCA-56FF40644464}"/>
              </a:ext>
            </a:extLst>
          </p:cNvPr>
          <p:cNvSpPr>
            <a:spLocks noGrp="1"/>
          </p:cNvSpPr>
          <p:nvPr>
            <p:ph type="title"/>
          </p:nvPr>
        </p:nvSpPr>
        <p:spPr/>
        <p:txBody>
          <a:bodyPr/>
          <a:lstStyle/>
          <a:p>
            <a:r>
              <a:rPr lang="en-US" dirty="0"/>
              <a:t>Extension 1 – Timing Decomposition</a:t>
            </a:r>
          </a:p>
        </p:txBody>
      </p:sp>
      <p:pic>
        <p:nvPicPr>
          <p:cNvPr id="8" name="Picture 7">
            <a:extLst>
              <a:ext uri="{FF2B5EF4-FFF2-40B4-BE49-F238E27FC236}">
                <a16:creationId xmlns:a16="http://schemas.microsoft.com/office/drawing/2014/main" id="{6A03C296-84A7-7BCA-420D-3AA49851C4CA}"/>
              </a:ext>
            </a:extLst>
          </p:cNvPr>
          <p:cNvPicPr>
            <a:picLocks noChangeAspect="1"/>
          </p:cNvPicPr>
          <p:nvPr/>
        </p:nvPicPr>
        <p:blipFill>
          <a:blip r:embed="rId2"/>
          <a:stretch>
            <a:fillRect/>
          </a:stretch>
        </p:blipFill>
        <p:spPr>
          <a:xfrm>
            <a:off x="771896" y="1718499"/>
            <a:ext cx="7819901" cy="1706501"/>
          </a:xfrm>
          <a:prstGeom prst="rect">
            <a:avLst/>
          </a:prstGeom>
        </p:spPr>
      </p:pic>
    </p:spTree>
    <p:extLst>
      <p:ext uri="{BB962C8B-B14F-4D97-AF65-F5344CB8AC3E}">
        <p14:creationId xmlns:p14="http://schemas.microsoft.com/office/powerpoint/2010/main" val="3310313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A45C-9836-69E0-FD52-0723E5CDF4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9B56B7-8895-11D7-599E-9F2646167F00}"/>
              </a:ext>
            </a:extLst>
          </p:cNvPr>
          <p:cNvSpPr>
            <a:spLocks noGrp="1"/>
          </p:cNvSpPr>
          <p:nvPr>
            <p:ph type="sldNum" sz="quarter" idx="19"/>
          </p:nvPr>
        </p:nvSpPr>
        <p:spPr/>
        <p:txBody>
          <a:bodyPr/>
          <a:lstStyle/>
          <a:p>
            <a:fld id="{B6238B5B-F19C-E947-A0BC-87BD7983F871}" type="slidenum">
              <a:rPr lang="en-US" smtClean="0"/>
              <a:pPr/>
              <a:t>11</a:t>
            </a:fld>
            <a:endParaRPr lang="en-US" dirty="0"/>
          </a:p>
        </p:txBody>
      </p:sp>
      <p:sp>
        <p:nvSpPr>
          <p:cNvPr id="5" name="Title 4">
            <a:extLst>
              <a:ext uri="{FF2B5EF4-FFF2-40B4-BE49-F238E27FC236}">
                <a16:creationId xmlns:a16="http://schemas.microsoft.com/office/drawing/2014/main" id="{B9504214-C0FD-6F05-16DE-48CFECAA7B78}"/>
              </a:ext>
            </a:extLst>
          </p:cNvPr>
          <p:cNvSpPr>
            <a:spLocks noGrp="1"/>
          </p:cNvSpPr>
          <p:nvPr>
            <p:ph type="title"/>
          </p:nvPr>
        </p:nvSpPr>
        <p:spPr/>
        <p:txBody>
          <a:bodyPr/>
          <a:lstStyle/>
          <a:p>
            <a:r>
              <a:rPr lang="en-US" dirty="0"/>
              <a:t>Extension 1 – Timing Decomposition</a:t>
            </a:r>
          </a:p>
        </p:txBody>
      </p:sp>
      <p:pic>
        <p:nvPicPr>
          <p:cNvPr id="7" name="Picture 6">
            <a:extLst>
              <a:ext uri="{FF2B5EF4-FFF2-40B4-BE49-F238E27FC236}">
                <a16:creationId xmlns:a16="http://schemas.microsoft.com/office/drawing/2014/main" id="{C6176B0B-CB5C-6162-C6B6-9328E77190A2}"/>
              </a:ext>
            </a:extLst>
          </p:cNvPr>
          <p:cNvPicPr>
            <a:picLocks noChangeAspect="1"/>
          </p:cNvPicPr>
          <p:nvPr/>
        </p:nvPicPr>
        <p:blipFill>
          <a:blip r:embed="rId2"/>
          <a:stretch>
            <a:fillRect/>
          </a:stretch>
        </p:blipFill>
        <p:spPr>
          <a:xfrm>
            <a:off x="-1" y="857249"/>
            <a:ext cx="10044349" cy="3766631"/>
          </a:xfrm>
          <a:prstGeom prst="rect">
            <a:avLst/>
          </a:prstGeom>
        </p:spPr>
      </p:pic>
    </p:spTree>
    <p:extLst>
      <p:ext uri="{BB962C8B-B14F-4D97-AF65-F5344CB8AC3E}">
        <p14:creationId xmlns:p14="http://schemas.microsoft.com/office/powerpoint/2010/main" val="1857590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4D791-8BDF-5534-97EB-D680E2633C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AEF562-6EF4-1EC9-8380-15E585750DCF}"/>
              </a:ext>
            </a:extLst>
          </p:cNvPr>
          <p:cNvSpPr>
            <a:spLocks noGrp="1"/>
          </p:cNvSpPr>
          <p:nvPr>
            <p:ph type="sldNum" sz="quarter" idx="19"/>
          </p:nvPr>
        </p:nvSpPr>
        <p:spPr/>
        <p:txBody>
          <a:bodyPr/>
          <a:lstStyle/>
          <a:p>
            <a:fld id="{B6238B5B-F19C-E947-A0BC-87BD7983F871}" type="slidenum">
              <a:rPr lang="en-US" smtClean="0"/>
              <a:pPr/>
              <a:t>12</a:t>
            </a:fld>
            <a:endParaRPr lang="en-US" dirty="0"/>
          </a:p>
        </p:txBody>
      </p:sp>
      <p:sp>
        <p:nvSpPr>
          <p:cNvPr id="5" name="Title 4">
            <a:extLst>
              <a:ext uri="{FF2B5EF4-FFF2-40B4-BE49-F238E27FC236}">
                <a16:creationId xmlns:a16="http://schemas.microsoft.com/office/drawing/2014/main" id="{0C6422F6-E308-F3DB-FCAB-414B0A1EF9B9}"/>
              </a:ext>
            </a:extLst>
          </p:cNvPr>
          <p:cNvSpPr>
            <a:spLocks noGrp="1"/>
          </p:cNvSpPr>
          <p:nvPr>
            <p:ph type="title"/>
          </p:nvPr>
        </p:nvSpPr>
        <p:spPr/>
        <p:txBody>
          <a:bodyPr/>
          <a:lstStyle/>
          <a:p>
            <a:r>
              <a:rPr lang="en-US" dirty="0"/>
              <a:t>Extension 1 – Timing Decomposition</a:t>
            </a:r>
          </a:p>
        </p:txBody>
      </p:sp>
      <p:pic>
        <p:nvPicPr>
          <p:cNvPr id="3" name="Picture 2">
            <a:extLst>
              <a:ext uri="{FF2B5EF4-FFF2-40B4-BE49-F238E27FC236}">
                <a16:creationId xmlns:a16="http://schemas.microsoft.com/office/drawing/2014/main" id="{4481B7C9-3917-A19C-63A4-C68A67D8806C}"/>
              </a:ext>
            </a:extLst>
          </p:cNvPr>
          <p:cNvPicPr>
            <a:picLocks noChangeAspect="1"/>
          </p:cNvPicPr>
          <p:nvPr/>
        </p:nvPicPr>
        <p:blipFill>
          <a:blip r:embed="rId2"/>
          <a:stretch>
            <a:fillRect/>
          </a:stretch>
        </p:blipFill>
        <p:spPr>
          <a:xfrm>
            <a:off x="0" y="0"/>
            <a:ext cx="9144000" cy="5143500"/>
          </a:xfrm>
          <a:prstGeom prst="rect">
            <a:avLst/>
          </a:prstGeom>
        </p:spPr>
      </p:pic>
      <p:pic>
        <p:nvPicPr>
          <p:cNvPr id="8" name="Picture 7">
            <a:extLst>
              <a:ext uri="{FF2B5EF4-FFF2-40B4-BE49-F238E27FC236}">
                <a16:creationId xmlns:a16="http://schemas.microsoft.com/office/drawing/2014/main" id="{0940D98A-06C2-EE08-059F-CB81AA732FAD}"/>
              </a:ext>
            </a:extLst>
          </p:cNvPr>
          <p:cNvPicPr>
            <a:picLocks noChangeAspect="1"/>
          </p:cNvPicPr>
          <p:nvPr/>
        </p:nvPicPr>
        <p:blipFill>
          <a:blip r:embed="rId3"/>
          <a:stretch>
            <a:fillRect/>
          </a:stretch>
        </p:blipFill>
        <p:spPr>
          <a:xfrm>
            <a:off x="497893" y="1009450"/>
            <a:ext cx="9144000" cy="3048000"/>
          </a:xfrm>
          <a:prstGeom prst="rect">
            <a:avLst/>
          </a:prstGeom>
        </p:spPr>
      </p:pic>
    </p:spTree>
    <p:extLst>
      <p:ext uri="{BB962C8B-B14F-4D97-AF65-F5344CB8AC3E}">
        <p14:creationId xmlns:p14="http://schemas.microsoft.com/office/powerpoint/2010/main" val="2229045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F67A-F8EF-1597-8029-A74F9D4BF66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84502B-49E1-2348-7969-4DE6C1234FFA}"/>
              </a:ext>
            </a:extLst>
          </p:cNvPr>
          <p:cNvSpPr>
            <a:spLocks noGrp="1"/>
          </p:cNvSpPr>
          <p:nvPr>
            <p:ph type="sldNum" sz="quarter" idx="19"/>
          </p:nvPr>
        </p:nvSpPr>
        <p:spPr/>
        <p:txBody>
          <a:bodyPr/>
          <a:lstStyle/>
          <a:p>
            <a:fld id="{B6238B5B-F19C-E947-A0BC-87BD7983F871}" type="slidenum">
              <a:rPr lang="en-US" smtClean="0"/>
              <a:pPr/>
              <a:t>13</a:t>
            </a:fld>
            <a:endParaRPr lang="en-US" dirty="0"/>
          </a:p>
        </p:txBody>
      </p:sp>
      <p:sp>
        <p:nvSpPr>
          <p:cNvPr id="5" name="Title 4">
            <a:extLst>
              <a:ext uri="{FF2B5EF4-FFF2-40B4-BE49-F238E27FC236}">
                <a16:creationId xmlns:a16="http://schemas.microsoft.com/office/drawing/2014/main" id="{C34D9016-8DE2-39E9-7BF8-46755094A588}"/>
              </a:ext>
            </a:extLst>
          </p:cNvPr>
          <p:cNvSpPr>
            <a:spLocks noGrp="1"/>
          </p:cNvSpPr>
          <p:nvPr>
            <p:ph type="title"/>
          </p:nvPr>
        </p:nvSpPr>
        <p:spPr/>
        <p:txBody>
          <a:bodyPr/>
          <a:lstStyle/>
          <a:p>
            <a:r>
              <a:rPr lang="en-US" dirty="0"/>
              <a:t>Extension 1 – Timing Decomposition</a:t>
            </a:r>
          </a:p>
        </p:txBody>
      </p:sp>
      <p:pic>
        <p:nvPicPr>
          <p:cNvPr id="7" name="Picture 6">
            <a:extLst>
              <a:ext uri="{FF2B5EF4-FFF2-40B4-BE49-F238E27FC236}">
                <a16:creationId xmlns:a16="http://schemas.microsoft.com/office/drawing/2014/main" id="{4E87A38D-E72E-538D-8C62-393E506E2D53}"/>
              </a:ext>
            </a:extLst>
          </p:cNvPr>
          <p:cNvPicPr>
            <a:picLocks noChangeAspect="1"/>
          </p:cNvPicPr>
          <p:nvPr/>
        </p:nvPicPr>
        <p:blipFill>
          <a:blip r:embed="rId2"/>
          <a:stretch>
            <a:fillRect/>
          </a:stretch>
        </p:blipFill>
        <p:spPr>
          <a:xfrm>
            <a:off x="-1" y="857249"/>
            <a:ext cx="10044349" cy="3766631"/>
          </a:xfrm>
          <a:prstGeom prst="rect">
            <a:avLst/>
          </a:prstGeom>
        </p:spPr>
      </p:pic>
      <p:pic>
        <p:nvPicPr>
          <p:cNvPr id="3" name="Picture 2">
            <a:extLst>
              <a:ext uri="{FF2B5EF4-FFF2-40B4-BE49-F238E27FC236}">
                <a16:creationId xmlns:a16="http://schemas.microsoft.com/office/drawing/2014/main" id="{D24A3826-9E6E-100F-220F-D094400B7494}"/>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69550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480A9-4B87-4EFA-09A5-06015B47ED0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EEF5035-C6D3-3F02-C6FD-64F4B71ED22C}"/>
              </a:ext>
            </a:extLst>
          </p:cNvPr>
          <p:cNvSpPr>
            <a:spLocks noGrp="1"/>
          </p:cNvSpPr>
          <p:nvPr>
            <p:ph type="body" sz="quarter" idx="13"/>
          </p:nvPr>
        </p:nvSpPr>
        <p:spPr>
          <a:xfrm>
            <a:off x="604893" y="3529925"/>
            <a:ext cx="7757080" cy="851515"/>
          </a:xfrm>
        </p:spPr>
        <p:txBody>
          <a:bodyPr/>
          <a:lstStyle/>
          <a:p>
            <a:pPr marL="285750" indent="-285750">
              <a:buFont typeface="Arial" panose="020B0604020202020204" pitchFamily="34" charset="0"/>
              <a:buChar char="•"/>
            </a:pPr>
            <a:r>
              <a:rPr lang="en-US" dirty="0"/>
              <a:t> ETF-augmented models improve daily information coefficients for several major ETFs.</a:t>
            </a:r>
          </a:p>
          <a:p>
            <a:pPr marL="285750" indent="-285750">
              <a:buFont typeface="Arial" panose="020B0604020202020204" pitchFamily="34" charset="0"/>
              <a:buChar char="•"/>
            </a:pPr>
            <a:r>
              <a:rPr lang="en-US" dirty="0"/>
              <a:t>Gains are strongest for SPY and IWM</a:t>
            </a:r>
          </a:p>
          <a:p>
            <a:pPr marL="285750" indent="-285750">
              <a:buFont typeface="Arial" panose="020B0604020202020204" pitchFamily="34" charset="0"/>
              <a:buChar char="•"/>
            </a:pPr>
            <a:r>
              <a:rPr lang="en-US" dirty="0"/>
              <a:t>QQQ remains weaker out of sample.</a:t>
            </a:r>
          </a:p>
        </p:txBody>
      </p:sp>
      <p:sp>
        <p:nvSpPr>
          <p:cNvPr id="4" name="Slide Number Placeholder 3">
            <a:extLst>
              <a:ext uri="{FF2B5EF4-FFF2-40B4-BE49-F238E27FC236}">
                <a16:creationId xmlns:a16="http://schemas.microsoft.com/office/drawing/2014/main" id="{16C50D58-7F20-BD24-0C8C-FB3C3E276CF2}"/>
              </a:ext>
            </a:extLst>
          </p:cNvPr>
          <p:cNvSpPr>
            <a:spLocks noGrp="1"/>
          </p:cNvSpPr>
          <p:nvPr>
            <p:ph type="sldNum" sz="quarter" idx="19"/>
          </p:nvPr>
        </p:nvSpPr>
        <p:spPr/>
        <p:txBody>
          <a:bodyPr/>
          <a:lstStyle/>
          <a:p>
            <a:fld id="{B6238B5B-F19C-E947-A0BC-87BD7983F871}" type="slidenum">
              <a:rPr lang="en-US" smtClean="0"/>
              <a:pPr/>
              <a:t>14</a:t>
            </a:fld>
            <a:endParaRPr lang="en-US" dirty="0"/>
          </a:p>
        </p:txBody>
      </p:sp>
      <p:sp>
        <p:nvSpPr>
          <p:cNvPr id="5" name="Title 4">
            <a:extLst>
              <a:ext uri="{FF2B5EF4-FFF2-40B4-BE49-F238E27FC236}">
                <a16:creationId xmlns:a16="http://schemas.microsoft.com/office/drawing/2014/main" id="{3E4A0382-5F88-17B1-BAEA-613D69EDE786}"/>
              </a:ext>
            </a:extLst>
          </p:cNvPr>
          <p:cNvSpPr>
            <a:spLocks noGrp="1"/>
          </p:cNvSpPr>
          <p:nvPr>
            <p:ph type="title"/>
          </p:nvPr>
        </p:nvSpPr>
        <p:spPr/>
        <p:txBody>
          <a:bodyPr/>
          <a:lstStyle/>
          <a:p>
            <a:r>
              <a:rPr lang="en-US" dirty="0"/>
              <a:t>Out-of-Sample Forecasting</a:t>
            </a:r>
          </a:p>
        </p:txBody>
      </p:sp>
      <p:graphicFrame>
        <p:nvGraphicFramePr>
          <p:cNvPr id="11" name="Table 10">
            <a:extLst>
              <a:ext uri="{FF2B5EF4-FFF2-40B4-BE49-F238E27FC236}">
                <a16:creationId xmlns:a16="http://schemas.microsoft.com/office/drawing/2014/main" id="{466476A9-5290-0ACF-A0FC-5C0A27ED0FF6}"/>
              </a:ext>
            </a:extLst>
          </p:cNvPr>
          <p:cNvGraphicFramePr>
            <a:graphicFrameLocks noGrp="1"/>
          </p:cNvGraphicFramePr>
          <p:nvPr>
            <p:extLst>
              <p:ext uri="{D42A27DB-BD31-4B8C-83A1-F6EECF244321}">
                <p14:modId xmlns:p14="http://schemas.microsoft.com/office/powerpoint/2010/main" val="2233176908"/>
              </p:ext>
            </p:extLst>
          </p:nvPr>
        </p:nvGraphicFramePr>
        <p:xfrm>
          <a:off x="464381" y="902587"/>
          <a:ext cx="8038104" cy="2501279"/>
        </p:xfrm>
        <a:graphic>
          <a:graphicData uri="http://schemas.openxmlformats.org/drawingml/2006/table">
            <a:tbl>
              <a:tblPr firstRow="1" bandRow="1">
                <a:tableStyleId>{5C22544A-7EE6-4342-B048-85BDC9FD1C3A}</a:tableStyleId>
              </a:tblPr>
              <a:tblGrid>
                <a:gridCol w="1339684">
                  <a:extLst>
                    <a:ext uri="{9D8B030D-6E8A-4147-A177-3AD203B41FA5}">
                      <a16:colId xmlns:a16="http://schemas.microsoft.com/office/drawing/2014/main" val="4004822106"/>
                    </a:ext>
                  </a:extLst>
                </a:gridCol>
                <a:gridCol w="1339684">
                  <a:extLst>
                    <a:ext uri="{9D8B030D-6E8A-4147-A177-3AD203B41FA5}">
                      <a16:colId xmlns:a16="http://schemas.microsoft.com/office/drawing/2014/main" val="1473335380"/>
                    </a:ext>
                  </a:extLst>
                </a:gridCol>
                <a:gridCol w="1339684">
                  <a:extLst>
                    <a:ext uri="{9D8B030D-6E8A-4147-A177-3AD203B41FA5}">
                      <a16:colId xmlns:a16="http://schemas.microsoft.com/office/drawing/2014/main" val="1755888669"/>
                    </a:ext>
                  </a:extLst>
                </a:gridCol>
                <a:gridCol w="1339684">
                  <a:extLst>
                    <a:ext uri="{9D8B030D-6E8A-4147-A177-3AD203B41FA5}">
                      <a16:colId xmlns:a16="http://schemas.microsoft.com/office/drawing/2014/main" val="1995461228"/>
                    </a:ext>
                  </a:extLst>
                </a:gridCol>
                <a:gridCol w="1339684">
                  <a:extLst>
                    <a:ext uri="{9D8B030D-6E8A-4147-A177-3AD203B41FA5}">
                      <a16:colId xmlns:a16="http://schemas.microsoft.com/office/drawing/2014/main" val="754270491"/>
                    </a:ext>
                  </a:extLst>
                </a:gridCol>
                <a:gridCol w="1339684">
                  <a:extLst>
                    <a:ext uri="{9D8B030D-6E8A-4147-A177-3AD203B41FA5}">
                      <a16:colId xmlns:a16="http://schemas.microsoft.com/office/drawing/2014/main" val="1729458723"/>
                    </a:ext>
                  </a:extLst>
                </a:gridCol>
              </a:tblGrid>
              <a:tr h="227389">
                <a:tc>
                  <a:txBody>
                    <a:bodyPr/>
                    <a:lstStyle/>
                    <a:p>
                      <a:pPr algn="l" fontAlgn="b">
                        <a:buNone/>
                      </a:pPr>
                      <a:r>
                        <a:rPr lang="en-US" sz="1100" b="0" i="0" u="none" strike="noStrike" dirty="0">
                          <a:solidFill>
                            <a:srgbClr val="000000"/>
                          </a:solidFill>
                          <a:effectLst/>
                          <a:latin typeface="Aptos Narrow" panose="020B0004020202020204" pitchFamily="34" charset="0"/>
                        </a:rPr>
                        <a:t>ETF</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HAR_IC</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Best_Model</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Best_IC</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IC_Gain_vs_HAR</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Interpretation</a:t>
                      </a:r>
                    </a:p>
                  </a:txBody>
                  <a:tcPr marL="5443" marR="5443" marT="5443" marB="0" anchor="b"/>
                </a:tc>
                <a:extLst>
                  <a:ext uri="{0D108BD9-81ED-4DB2-BD59-A6C34878D82A}">
                    <a16:rowId xmlns:a16="http://schemas.microsoft.com/office/drawing/2014/main" val="2946666805"/>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XLY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0.002747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0.004541</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0.001794</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215076819"/>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IWM</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0.002349</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0.003763</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0.001413</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1898274120"/>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XLE</a:t>
                      </a:r>
                    </a:p>
                  </a:txBody>
                  <a:tcPr marL="5443" marR="5443" marT="5443"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0.002747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matched_sync_etf_har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0.003856</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0.001109</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3183715415"/>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XLF</a:t>
                      </a:r>
                    </a:p>
                  </a:txBody>
                  <a:tcPr marL="5443" marR="5443" marT="5443"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0.002747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matched_sync_etf_har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0.003504</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0.000758</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3663671691"/>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SPY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0.002747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0.00345</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0.000703</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2260394161"/>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TLT</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0.001222</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0.001814</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0.000593</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1384372804"/>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GLD</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0.003178</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0.00349</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0.000312</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2957875033"/>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XLV</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0.002747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0.003038</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0.000292</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Improves ranking</a:t>
                      </a:r>
                    </a:p>
                  </a:txBody>
                  <a:tcPr marL="5443" marR="5443" marT="5443" marB="0" anchor="b"/>
                </a:tc>
                <a:extLst>
                  <a:ext uri="{0D108BD9-81ED-4DB2-BD59-A6C34878D82A}">
                    <a16:rowId xmlns:a16="http://schemas.microsoft.com/office/drawing/2014/main" val="3538375972"/>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QQQ</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-0.00022</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har_only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-0.00022</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No OOS improvement</a:t>
                      </a:r>
                    </a:p>
                  </a:txBody>
                  <a:tcPr marL="5443" marR="5443" marT="5443" marB="0" anchor="b"/>
                </a:tc>
                <a:extLst>
                  <a:ext uri="{0D108BD9-81ED-4DB2-BD59-A6C34878D82A}">
                    <a16:rowId xmlns:a16="http://schemas.microsoft.com/office/drawing/2014/main" val="2793332632"/>
                  </a:ext>
                </a:extLst>
              </a:tr>
              <a:tr h="227389">
                <a:tc>
                  <a:txBody>
                    <a:bodyPr/>
                    <a:lstStyle/>
                    <a:p>
                      <a:pPr algn="l" fontAlgn="b">
                        <a:buNone/>
                      </a:pPr>
                      <a:r>
                        <a:rPr lang="en-US" sz="1100" b="0" i="0" u="none" strike="noStrike">
                          <a:solidFill>
                            <a:srgbClr val="000000"/>
                          </a:solidFill>
                          <a:effectLst/>
                          <a:latin typeface="Aptos Narrow" panose="020B0004020202020204" pitchFamily="34" charset="0"/>
                        </a:rPr>
                        <a:t>XLK</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0.002747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har_only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0.002747</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a:t>
                      </a:r>
                    </a:p>
                  </a:txBody>
                  <a:tcPr marL="5443" marR="5443" marT="5443" marB="0" anchor="b"/>
                </a:tc>
                <a:tc>
                  <a:txBody>
                    <a:bodyPr/>
                    <a:lstStyle/>
                    <a:p>
                      <a:pPr algn="l" fontAlgn="b">
                        <a:buNone/>
                      </a:pPr>
                      <a:r>
                        <a:rPr lang="en-US" sz="1100" b="0" i="0" u="none" strike="noStrike" dirty="0">
                          <a:solidFill>
                            <a:srgbClr val="000000"/>
                          </a:solidFill>
                          <a:effectLst/>
                          <a:latin typeface="Aptos Narrow" panose="020B0004020202020204" pitchFamily="34" charset="0"/>
                        </a:rPr>
                        <a:t>No OOS improvement</a:t>
                      </a:r>
                    </a:p>
                  </a:txBody>
                  <a:tcPr marL="5443" marR="5443" marT="5443" marB="0" anchor="b"/>
                </a:tc>
                <a:extLst>
                  <a:ext uri="{0D108BD9-81ED-4DB2-BD59-A6C34878D82A}">
                    <a16:rowId xmlns:a16="http://schemas.microsoft.com/office/drawing/2014/main" val="1981437500"/>
                  </a:ext>
                </a:extLst>
              </a:tr>
            </a:tbl>
          </a:graphicData>
        </a:graphic>
      </p:graphicFrame>
      <p:sp>
        <p:nvSpPr>
          <p:cNvPr id="12" name="Text Placeholder 2">
            <a:extLst>
              <a:ext uri="{FF2B5EF4-FFF2-40B4-BE49-F238E27FC236}">
                <a16:creationId xmlns:a16="http://schemas.microsoft.com/office/drawing/2014/main" id="{B30B5197-2C81-7B36-7C52-A5EB6939E96E}"/>
              </a:ext>
            </a:extLst>
          </p:cNvPr>
          <p:cNvSpPr>
            <a:spLocks noGrp="1"/>
          </p:cNvSpPr>
          <p:nvPr>
            <p:ph type="body" sz="quarter" idx="15"/>
          </p:nvPr>
        </p:nvSpPr>
        <p:spPr>
          <a:xfrm>
            <a:off x="2057400" y="4566879"/>
            <a:ext cx="6858000" cy="215444"/>
          </a:xfrm>
        </p:spPr>
        <p:txBody>
          <a:bodyPr/>
          <a:lstStyle/>
          <a:p>
            <a:r>
              <a:rPr lang="en-US" dirty="0"/>
              <a:t>No </a:t>
            </a:r>
            <a:r>
              <a:rPr lang="en-US" dirty="0" err="1"/>
              <a:t>rmse</a:t>
            </a:r>
            <a:r>
              <a:rPr lang="en-US" dirty="0"/>
              <a:t> improvement</a:t>
            </a:r>
          </a:p>
        </p:txBody>
      </p:sp>
    </p:spTree>
    <p:extLst>
      <p:ext uri="{BB962C8B-B14F-4D97-AF65-F5344CB8AC3E}">
        <p14:creationId xmlns:p14="http://schemas.microsoft.com/office/powerpoint/2010/main" val="3569258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EEF8F-58A5-F527-FF88-5BE7D6960ED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8A9C5CA-A2F3-95F7-BF96-FAC423A9A654}"/>
              </a:ext>
            </a:extLst>
          </p:cNvPr>
          <p:cNvSpPr>
            <a:spLocks noGrp="1"/>
          </p:cNvSpPr>
          <p:nvPr>
            <p:ph type="body" sz="quarter" idx="13"/>
          </p:nvPr>
        </p:nvSpPr>
        <p:spPr/>
        <p:txBody>
          <a:bodyPr/>
          <a:lstStyle/>
          <a:p>
            <a:endParaRPr lang="en-US" dirty="0"/>
          </a:p>
        </p:txBody>
      </p:sp>
      <p:sp>
        <p:nvSpPr>
          <p:cNvPr id="3" name="Text Placeholder 2">
            <a:extLst>
              <a:ext uri="{FF2B5EF4-FFF2-40B4-BE49-F238E27FC236}">
                <a16:creationId xmlns:a16="http://schemas.microsoft.com/office/drawing/2014/main" id="{397BE4B7-54B9-54C7-FD2E-5F19B1ED3B93}"/>
              </a:ext>
            </a:extLst>
          </p:cNvPr>
          <p:cNvSpPr>
            <a:spLocks noGrp="1"/>
          </p:cNvSpPr>
          <p:nvPr>
            <p:ph type="body" sz="quarter" idx="15"/>
          </p:nvPr>
        </p:nvSpPr>
        <p:spPr/>
        <p:txBody>
          <a:bodyPr/>
          <a:lstStyle/>
          <a:p>
            <a:endParaRPr lang="en-US"/>
          </a:p>
        </p:txBody>
      </p:sp>
      <p:sp>
        <p:nvSpPr>
          <p:cNvPr id="4" name="Slide Number Placeholder 3">
            <a:extLst>
              <a:ext uri="{FF2B5EF4-FFF2-40B4-BE49-F238E27FC236}">
                <a16:creationId xmlns:a16="http://schemas.microsoft.com/office/drawing/2014/main" id="{AE3D89D4-5203-327B-F908-11B2D598F34E}"/>
              </a:ext>
            </a:extLst>
          </p:cNvPr>
          <p:cNvSpPr>
            <a:spLocks noGrp="1"/>
          </p:cNvSpPr>
          <p:nvPr>
            <p:ph type="sldNum" sz="quarter" idx="19"/>
          </p:nvPr>
        </p:nvSpPr>
        <p:spPr/>
        <p:txBody>
          <a:bodyPr/>
          <a:lstStyle/>
          <a:p>
            <a:fld id="{B6238B5B-F19C-E947-A0BC-87BD7983F871}" type="slidenum">
              <a:rPr lang="en-US" smtClean="0"/>
              <a:pPr/>
              <a:t>15</a:t>
            </a:fld>
            <a:endParaRPr lang="en-US" dirty="0"/>
          </a:p>
        </p:txBody>
      </p:sp>
      <p:sp>
        <p:nvSpPr>
          <p:cNvPr id="5" name="Title 4">
            <a:extLst>
              <a:ext uri="{FF2B5EF4-FFF2-40B4-BE49-F238E27FC236}">
                <a16:creationId xmlns:a16="http://schemas.microsoft.com/office/drawing/2014/main" id="{5C9114C1-D242-1F84-4508-A6EF48082D95}"/>
              </a:ext>
            </a:extLst>
          </p:cNvPr>
          <p:cNvSpPr>
            <a:spLocks noGrp="1"/>
          </p:cNvSpPr>
          <p:nvPr>
            <p:ph type="title"/>
          </p:nvPr>
        </p:nvSpPr>
        <p:spPr/>
        <p:txBody>
          <a:bodyPr/>
          <a:lstStyle/>
          <a:p>
            <a:r>
              <a:rPr lang="en-US" dirty="0"/>
              <a:t>Portfolio and Economic Significance</a:t>
            </a:r>
          </a:p>
        </p:txBody>
      </p:sp>
      <p:graphicFrame>
        <p:nvGraphicFramePr>
          <p:cNvPr id="6" name="Table 5">
            <a:extLst>
              <a:ext uri="{FF2B5EF4-FFF2-40B4-BE49-F238E27FC236}">
                <a16:creationId xmlns:a16="http://schemas.microsoft.com/office/drawing/2014/main" id="{1060374E-9E76-9DDF-6E57-B52036CE223B}"/>
              </a:ext>
            </a:extLst>
          </p:cNvPr>
          <p:cNvGraphicFramePr>
            <a:graphicFrameLocks noGrp="1"/>
          </p:cNvGraphicFramePr>
          <p:nvPr>
            <p:extLst>
              <p:ext uri="{D42A27DB-BD31-4B8C-83A1-F6EECF244321}">
                <p14:modId xmlns:p14="http://schemas.microsoft.com/office/powerpoint/2010/main" val="638325091"/>
              </p:ext>
            </p:extLst>
          </p:nvPr>
        </p:nvGraphicFramePr>
        <p:xfrm>
          <a:off x="143622" y="788709"/>
          <a:ext cx="8828032" cy="3747953"/>
        </p:xfrm>
        <a:graphic>
          <a:graphicData uri="http://schemas.openxmlformats.org/drawingml/2006/table">
            <a:tbl>
              <a:tblPr firstRow="1" bandRow="1">
                <a:tableStyleId>{5C22544A-7EE6-4342-B048-85BDC9FD1C3A}</a:tableStyleId>
              </a:tblPr>
              <a:tblGrid>
                <a:gridCol w="655880">
                  <a:extLst>
                    <a:ext uri="{9D8B030D-6E8A-4147-A177-3AD203B41FA5}">
                      <a16:colId xmlns:a16="http://schemas.microsoft.com/office/drawing/2014/main" val="3428670883"/>
                    </a:ext>
                  </a:extLst>
                </a:gridCol>
                <a:gridCol w="1177708">
                  <a:extLst>
                    <a:ext uri="{9D8B030D-6E8A-4147-A177-3AD203B41FA5}">
                      <a16:colId xmlns:a16="http://schemas.microsoft.com/office/drawing/2014/main" val="2153536000"/>
                    </a:ext>
                  </a:extLst>
                </a:gridCol>
                <a:gridCol w="1383569">
                  <a:extLst>
                    <a:ext uri="{9D8B030D-6E8A-4147-A177-3AD203B41FA5}">
                      <a16:colId xmlns:a16="http://schemas.microsoft.com/office/drawing/2014/main" val="2429953948"/>
                    </a:ext>
                  </a:extLst>
                </a:gridCol>
                <a:gridCol w="1196859">
                  <a:extLst>
                    <a:ext uri="{9D8B030D-6E8A-4147-A177-3AD203B41FA5}">
                      <a16:colId xmlns:a16="http://schemas.microsoft.com/office/drawing/2014/main" val="1087411880"/>
                    </a:ext>
                  </a:extLst>
                </a:gridCol>
                <a:gridCol w="1103504">
                  <a:extLst>
                    <a:ext uri="{9D8B030D-6E8A-4147-A177-3AD203B41FA5}">
                      <a16:colId xmlns:a16="http://schemas.microsoft.com/office/drawing/2014/main" val="1308437338"/>
                    </a:ext>
                  </a:extLst>
                </a:gridCol>
                <a:gridCol w="1103504">
                  <a:extLst>
                    <a:ext uri="{9D8B030D-6E8A-4147-A177-3AD203B41FA5}">
                      <a16:colId xmlns:a16="http://schemas.microsoft.com/office/drawing/2014/main" val="1313659196"/>
                    </a:ext>
                  </a:extLst>
                </a:gridCol>
                <a:gridCol w="1393142">
                  <a:extLst>
                    <a:ext uri="{9D8B030D-6E8A-4147-A177-3AD203B41FA5}">
                      <a16:colId xmlns:a16="http://schemas.microsoft.com/office/drawing/2014/main" val="1142357339"/>
                    </a:ext>
                  </a:extLst>
                </a:gridCol>
                <a:gridCol w="813866">
                  <a:extLst>
                    <a:ext uri="{9D8B030D-6E8A-4147-A177-3AD203B41FA5}">
                      <a16:colId xmlns:a16="http://schemas.microsoft.com/office/drawing/2014/main" val="1217396214"/>
                    </a:ext>
                  </a:extLst>
                </a:gridCol>
              </a:tblGrid>
              <a:tr h="279959">
                <a:tc>
                  <a:txBody>
                    <a:bodyPr/>
                    <a:lstStyle/>
                    <a:p>
                      <a:pPr algn="l" fontAlgn="b">
                        <a:buNone/>
                      </a:pPr>
                      <a:r>
                        <a:rPr lang="en-US" sz="1100" b="0" i="0" u="none" strike="noStrike" dirty="0">
                          <a:solidFill>
                            <a:srgbClr val="000000"/>
                          </a:solidFill>
                          <a:effectLst/>
                          <a:latin typeface="Aptos Narrow" panose="020B0004020202020204" pitchFamily="34" charset="0"/>
                        </a:rPr>
                        <a:t>ETF</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HAR_Gross_Sharpe</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Best_Gross_Model</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Best_Gross_Sharpe</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Gross_Sharpe_Gain_vs_HAR</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Best_Mean_Gross_Return</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Best_Cum_Gross_Return</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Interpretation</a:t>
                      </a:r>
                    </a:p>
                  </a:txBody>
                  <a:tcPr marL="5443" marR="5443" marT="5443" marB="0" anchor="b"/>
                </a:tc>
                <a:extLst>
                  <a:ext uri="{0D108BD9-81ED-4DB2-BD59-A6C34878D82A}">
                    <a16:rowId xmlns:a16="http://schemas.microsoft.com/office/drawing/2014/main" val="2653691823"/>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XLE</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0.013354</a:t>
                      </a:r>
                    </a:p>
                  </a:txBody>
                  <a:tcPr marL="5443" marR="5443" marT="5443" marB="0" anchor="b"/>
                </a:tc>
                <a:tc>
                  <a:txBody>
                    <a:bodyPr/>
                    <a:lstStyle/>
                    <a:p>
                      <a:pPr algn="l" fontAlgn="b">
                        <a:buNone/>
                      </a:pPr>
                      <a:r>
                        <a:rPr lang="en-US" sz="1100" b="0" i="0" u="none" strike="noStrike" dirty="0" err="1">
                          <a:solidFill>
                            <a:srgbClr val="000000"/>
                          </a:solidFill>
                          <a:effectLst/>
                          <a:latin typeface="Aptos Narrow" panose="020B0004020202020204" pitchFamily="34" charset="0"/>
                        </a:rPr>
                        <a:t>sync_etf_har</a:t>
                      </a:r>
                      <a:endParaRPr lang="en-US" sz="1100" b="0" i="0" u="none" strike="noStrike" dirty="0">
                        <a:solidFill>
                          <a:srgbClr val="000000"/>
                        </a:solidFill>
                        <a:effectLst/>
                        <a:latin typeface="Aptos Narrow" panose="020B0004020202020204" pitchFamily="34" charset="0"/>
                      </a:endParaRP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0.358866</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0.345512</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0.00031</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1.635</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844073329"/>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XLF</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0.013354</a:t>
                      </a:r>
                    </a:p>
                  </a:txBody>
                  <a:tcPr marL="5443" marR="5443" marT="5443" marB="0" anchor="b"/>
                </a:tc>
                <a:tc>
                  <a:txBody>
                    <a:bodyPr/>
                    <a:lstStyle/>
                    <a:p>
                      <a:pPr algn="l" fontAlgn="b">
                        <a:buNone/>
                      </a:pPr>
                      <a:r>
                        <a:rPr lang="en-US" sz="1100" b="0" i="0" u="none" strike="noStrike" dirty="0" err="1">
                          <a:solidFill>
                            <a:srgbClr val="000000"/>
                          </a:solidFill>
                          <a:effectLst/>
                          <a:latin typeface="Aptos Narrow" panose="020B0004020202020204" pitchFamily="34" charset="0"/>
                        </a:rPr>
                        <a:t>matched_sync_etf_har</a:t>
                      </a:r>
                      <a:endParaRPr lang="en-US" sz="1100" b="0" i="0" u="none" strike="noStrike" dirty="0">
                        <a:solidFill>
                          <a:srgbClr val="000000"/>
                        </a:solidFill>
                        <a:effectLst/>
                        <a:latin typeface="Aptos Narrow" panose="020B0004020202020204" pitchFamily="34" charset="0"/>
                      </a:endParaRP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0.269985</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0.256631</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0.000252</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1.329</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3742848558"/>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SPY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0.013354</a:t>
                      </a:r>
                    </a:p>
                  </a:txBody>
                  <a:tcPr marL="5443" marR="5443" marT="5443" marB="0" anchor="b"/>
                </a:tc>
                <a:tc>
                  <a:txBody>
                    <a:bodyPr/>
                    <a:lstStyle/>
                    <a:p>
                      <a:pPr algn="l" fontAlgn="b">
                        <a:buNone/>
                      </a:pPr>
                      <a:r>
                        <a:rPr lang="en-US" sz="1100" b="0" i="0" u="none" strike="noStrike" dirty="0" err="1">
                          <a:solidFill>
                            <a:srgbClr val="000000"/>
                          </a:solidFill>
                          <a:effectLst/>
                          <a:latin typeface="Aptos Narrow" panose="020B0004020202020204" pitchFamily="34" charset="0"/>
                        </a:rPr>
                        <a:t>matched_sync_etf_har</a:t>
                      </a:r>
                      <a:endParaRPr lang="en-US" sz="1100" b="0" i="0" u="none" strike="noStrike" dirty="0">
                        <a:solidFill>
                          <a:srgbClr val="000000"/>
                        </a:solidFill>
                        <a:effectLst/>
                        <a:latin typeface="Aptos Narrow" panose="020B0004020202020204" pitchFamily="34" charset="0"/>
                      </a:endParaRP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0.240203</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0.226849</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0.000228</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1.202</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70788137"/>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IWM</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-0.051</a:t>
                      </a:r>
                    </a:p>
                  </a:txBody>
                  <a:tcPr marL="5443" marR="5443" marT="5443" marB="0" anchor="b"/>
                </a:tc>
                <a:tc>
                  <a:txBody>
                    <a:bodyPr/>
                    <a:lstStyle/>
                    <a:p>
                      <a:pPr algn="l" fontAlgn="b">
                        <a:buNone/>
                      </a:pPr>
                      <a:r>
                        <a:rPr lang="en-US" sz="1100" b="0" i="0" u="none" strike="noStrike" dirty="0" err="1">
                          <a:solidFill>
                            <a:srgbClr val="000000"/>
                          </a:solidFill>
                          <a:effectLst/>
                          <a:latin typeface="Aptos Narrow" panose="020B0004020202020204" pitchFamily="34" charset="0"/>
                        </a:rPr>
                        <a:t>sync_etf_har</a:t>
                      </a:r>
                      <a:endParaRPr lang="en-US" sz="1100" b="0" i="0" u="none" strike="noStrike" dirty="0">
                        <a:solidFill>
                          <a:srgbClr val="000000"/>
                        </a:solidFill>
                        <a:effectLst/>
                        <a:latin typeface="Aptos Narrow" panose="020B0004020202020204" pitchFamily="34" charset="0"/>
                      </a:endParaRP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0.153886</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0.20489</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0.000148</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0.782</a:t>
                      </a:r>
                    </a:p>
                  </a:txBody>
                  <a:tcPr marL="5443" marR="5443" marT="5443" marB="0" anchor="b"/>
                </a:tc>
                <a:tc>
                  <a:txBody>
                    <a:bodyPr/>
                    <a:lstStyle/>
                    <a:p>
                      <a:pPr algn="l" fontAlgn="b">
                        <a:buNone/>
                      </a:pPr>
                      <a:r>
                        <a:rPr lang="en-US" sz="1100" b="0" i="0" u="none" strike="noStrike" dirty="0">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2338844905"/>
                  </a:ext>
                </a:extLst>
              </a:tr>
              <a:tr h="279959">
                <a:tc>
                  <a:txBody>
                    <a:bodyPr/>
                    <a:lstStyle/>
                    <a:p>
                      <a:pPr algn="l" fontAlgn="b">
                        <a:buNone/>
                      </a:pPr>
                      <a:r>
                        <a:rPr lang="en-US" sz="1100" b="0" i="0" u="none" strike="noStrike" dirty="0">
                          <a:solidFill>
                            <a:srgbClr val="000000"/>
                          </a:solidFill>
                          <a:effectLst/>
                          <a:latin typeface="Aptos Narrow" panose="020B0004020202020204" pitchFamily="34" charset="0"/>
                        </a:rPr>
                        <a:t>XLY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0.013354</a:t>
                      </a:r>
                    </a:p>
                  </a:txBody>
                  <a:tcPr marL="5443" marR="5443" marT="5443" marB="0" anchor="b"/>
                </a:tc>
                <a:tc>
                  <a:txBody>
                    <a:bodyPr/>
                    <a:lstStyle/>
                    <a:p>
                      <a:pPr algn="l" fontAlgn="b">
                        <a:buNone/>
                      </a:pPr>
                      <a:r>
                        <a:rPr lang="en-US" sz="1100" b="0" i="0" u="none" strike="noStrike" dirty="0" err="1">
                          <a:solidFill>
                            <a:srgbClr val="000000"/>
                          </a:solidFill>
                          <a:effectLst/>
                          <a:latin typeface="Aptos Narrow" panose="020B0004020202020204" pitchFamily="34" charset="0"/>
                        </a:rPr>
                        <a:t>matched_sync_etf_har</a:t>
                      </a:r>
                      <a:endParaRPr lang="en-US" sz="1100" b="0" i="0" u="none" strike="noStrike" dirty="0">
                        <a:solidFill>
                          <a:srgbClr val="000000"/>
                        </a:solidFill>
                        <a:effectLst/>
                        <a:latin typeface="Aptos Narrow" panose="020B0004020202020204" pitchFamily="34" charset="0"/>
                      </a:endParaRP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0.203537</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0.190183</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0.000199</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1.05</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2914725959"/>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XLV</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0.013354</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0.131129</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0.117774</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0.000119</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0.629</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4012637666"/>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TLT</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-0.19795</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-0.10113</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0.09682</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-9.00E-05</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-0.476</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3386252872"/>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GLD</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-0.06418</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sync_etf_har</a:t>
                      </a:r>
                    </a:p>
                  </a:txBody>
                  <a:tcPr marL="5443" marR="5443" marT="5443"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-0.00863</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0.055557</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-8.00E-06</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-0.037</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2697788140"/>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XLK</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0.013354</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matched_sync_etf_har</a:t>
                      </a:r>
                    </a:p>
                  </a:txBody>
                  <a:tcPr marL="5443" marR="5443" marT="5443"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0.03167</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0.018316</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3.10E-05</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0.165</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Gross improvement</a:t>
                      </a:r>
                    </a:p>
                  </a:txBody>
                  <a:tcPr marL="5443" marR="5443" marT="5443" marB="0" anchor="b"/>
                </a:tc>
                <a:extLst>
                  <a:ext uri="{0D108BD9-81ED-4DB2-BD59-A6C34878D82A}">
                    <a16:rowId xmlns:a16="http://schemas.microsoft.com/office/drawing/2014/main" val="3025840369"/>
                  </a:ext>
                </a:extLst>
              </a:tr>
              <a:tr h="279959">
                <a:tc>
                  <a:txBody>
                    <a:bodyPr/>
                    <a:lstStyle/>
                    <a:p>
                      <a:pPr algn="l" fontAlgn="b">
                        <a:buNone/>
                      </a:pPr>
                      <a:r>
                        <a:rPr lang="en-US" sz="1100" b="0" i="0" u="none" strike="noStrike">
                          <a:solidFill>
                            <a:srgbClr val="000000"/>
                          </a:solidFill>
                          <a:effectLst/>
                          <a:latin typeface="Aptos Narrow" panose="020B0004020202020204" pitchFamily="34" charset="0"/>
                        </a:rPr>
                        <a:t>QQQ</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-0.47403</a:t>
                      </a:r>
                    </a:p>
                  </a:txBody>
                  <a:tcPr marL="5443" marR="5443" marT="5443" marB="0" anchor="b"/>
                </a:tc>
                <a:tc>
                  <a:txBody>
                    <a:bodyPr/>
                    <a:lstStyle/>
                    <a:p>
                      <a:pPr algn="l" fontAlgn="b">
                        <a:buNone/>
                      </a:pPr>
                      <a:r>
                        <a:rPr lang="en-US" sz="1100" b="0" i="0" u="none" strike="noStrike">
                          <a:solidFill>
                            <a:srgbClr val="000000"/>
                          </a:solidFill>
                          <a:effectLst/>
                          <a:latin typeface="Aptos Narrow" panose="020B0004020202020204" pitchFamily="34" charset="0"/>
                        </a:rPr>
                        <a:t>har_only</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-0.47403</a:t>
                      </a:r>
                    </a:p>
                  </a:txBody>
                  <a:tcPr marL="5443" marR="5443" marT="5443" marB="0" anchor="b"/>
                </a:tc>
                <a:tc>
                  <a:txBody>
                    <a:bodyPr/>
                    <a:lstStyle/>
                    <a:p>
                      <a:pPr algn="r" fontAlgn="b">
                        <a:buNone/>
                      </a:pPr>
                      <a:r>
                        <a:rPr lang="en-US" sz="1100" b="0" i="0" u="none" strike="noStrike" dirty="0">
                          <a:solidFill>
                            <a:srgbClr val="000000"/>
                          </a:solidFill>
                          <a:effectLst/>
                          <a:latin typeface="Aptos Narrow" panose="020B0004020202020204" pitchFamily="34" charset="0"/>
                        </a:rPr>
                        <a:t>0</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-0.00043</a:t>
                      </a:r>
                    </a:p>
                  </a:txBody>
                  <a:tcPr marL="5443" marR="5443" marT="5443" marB="0" anchor="b"/>
                </a:tc>
                <a:tc>
                  <a:txBody>
                    <a:bodyPr/>
                    <a:lstStyle/>
                    <a:p>
                      <a:pPr algn="r" fontAlgn="b">
                        <a:buNone/>
                      </a:pPr>
                      <a:r>
                        <a:rPr lang="en-US" sz="1100" b="0" i="0" u="none" strike="noStrike">
                          <a:solidFill>
                            <a:srgbClr val="000000"/>
                          </a:solidFill>
                          <a:effectLst/>
                          <a:latin typeface="Aptos Narrow" panose="020B0004020202020204" pitchFamily="34" charset="0"/>
                        </a:rPr>
                        <a:t>-1.578</a:t>
                      </a:r>
                    </a:p>
                  </a:txBody>
                  <a:tcPr marL="5443" marR="5443" marT="5443" marB="0" anchor="b"/>
                </a:tc>
                <a:tc>
                  <a:txBody>
                    <a:bodyPr/>
                    <a:lstStyle/>
                    <a:p>
                      <a:pPr algn="l" fontAlgn="b">
                        <a:buNone/>
                      </a:pPr>
                      <a:r>
                        <a:rPr lang="en-US" sz="1100" b="0" i="0" u="none" strike="noStrike" dirty="0">
                          <a:solidFill>
                            <a:srgbClr val="000000"/>
                          </a:solidFill>
                          <a:effectLst/>
                          <a:latin typeface="Aptos Narrow" panose="020B0004020202020204" pitchFamily="34" charset="0"/>
                        </a:rPr>
                        <a:t>No gross improvement</a:t>
                      </a:r>
                    </a:p>
                  </a:txBody>
                  <a:tcPr marL="5443" marR="5443" marT="5443" marB="0" anchor="b"/>
                </a:tc>
                <a:extLst>
                  <a:ext uri="{0D108BD9-81ED-4DB2-BD59-A6C34878D82A}">
                    <a16:rowId xmlns:a16="http://schemas.microsoft.com/office/drawing/2014/main" val="2215834047"/>
                  </a:ext>
                </a:extLst>
              </a:tr>
            </a:tbl>
          </a:graphicData>
        </a:graphic>
      </p:graphicFrame>
      <p:sp>
        <p:nvSpPr>
          <p:cNvPr id="10" name="TextBox 9">
            <a:extLst>
              <a:ext uri="{FF2B5EF4-FFF2-40B4-BE49-F238E27FC236}">
                <a16:creationId xmlns:a16="http://schemas.microsoft.com/office/drawing/2014/main" id="{1FC9F374-777F-BC14-4446-34D5968B96EB}"/>
              </a:ext>
            </a:extLst>
          </p:cNvPr>
          <p:cNvSpPr txBox="1"/>
          <p:nvPr/>
        </p:nvSpPr>
        <p:spPr>
          <a:xfrm>
            <a:off x="2049022" y="4612809"/>
            <a:ext cx="6637778" cy="507831"/>
          </a:xfrm>
          <a:prstGeom prst="rect">
            <a:avLst/>
          </a:prstGeom>
          <a:noFill/>
        </p:spPr>
        <p:txBody>
          <a:bodyPr wrap="square">
            <a:spAutoFit/>
          </a:bodyPr>
          <a:lstStyle/>
          <a:p>
            <a:r>
              <a:rPr lang="en-US" dirty="0"/>
              <a:t>Takeaway: the predictive signal appears economically meaningful before trading frictions are imposed.</a:t>
            </a:r>
          </a:p>
        </p:txBody>
      </p:sp>
    </p:spTree>
    <p:extLst>
      <p:ext uri="{BB962C8B-B14F-4D97-AF65-F5344CB8AC3E}">
        <p14:creationId xmlns:p14="http://schemas.microsoft.com/office/powerpoint/2010/main" val="3346032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DADA5-8470-7E9F-C058-9388A3F0A1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218D65-4352-2BD9-335B-A427FBB0A87E}"/>
              </a:ext>
            </a:extLst>
          </p:cNvPr>
          <p:cNvSpPr>
            <a:spLocks noGrp="1"/>
          </p:cNvSpPr>
          <p:nvPr>
            <p:ph type="sldNum" sz="quarter" idx="19"/>
          </p:nvPr>
        </p:nvSpPr>
        <p:spPr/>
        <p:txBody>
          <a:bodyPr/>
          <a:lstStyle/>
          <a:p>
            <a:fld id="{B6238B5B-F19C-E947-A0BC-87BD7983F871}" type="slidenum">
              <a:rPr lang="en-US" smtClean="0"/>
              <a:pPr/>
              <a:t>16</a:t>
            </a:fld>
            <a:endParaRPr lang="en-US" dirty="0"/>
          </a:p>
        </p:txBody>
      </p:sp>
      <p:sp>
        <p:nvSpPr>
          <p:cNvPr id="5" name="Title 4">
            <a:extLst>
              <a:ext uri="{FF2B5EF4-FFF2-40B4-BE49-F238E27FC236}">
                <a16:creationId xmlns:a16="http://schemas.microsoft.com/office/drawing/2014/main" id="{63814BBC-3D46-88A4-177F-10A414A74A0F}"/>
              </a:ext>
            </a:extLst>
          </p:cNvPr>
          <p:cNvSpPr>
            <a:spLocks noGrp="1"/>
          </p:cNvSpPr>
          <p:nvPr>
            <p:ph type="title"/>
          </p:nvPr>
        </p:nvSpPr>
        <p:spPr/>
        <p:txBody>
          <a:bodyPr/>
          <a:lstStyle/>
          <a:p>
            <a:r>
              <a:rPr lang="en-US" dirty="0"/>
              <a:t>Conclusion</a:t>
            </a:r>
          </a:p>
        </p:txBody>
      </p:sp>
      <p:sp>
        <p:nvSpPr>
          <p:cNvPr id="6" name="Text Placeholder 5">
            <a:extLst>
              <a:ext uri="{FF2B5EF4-FFF2-40B4-BE49-F238E27FC236}">
                <a16:creationId xmlns:a16="http://schemas.microsoft.com/office/drawing/2014/main" id="{754FC888-3263-DA9C-F034-E3464F0EC812}"/>
              </a:ext>
            </a:extLst>
          </p:cNvPr>
          <p:cNvSpPr>
            <a:spLocks noGrp="1"/>
          </p:cNvSpPr>
          <p:nvPr>
            <p:ph type="body" sz="quarter" idx="13"/>
          </p:nvPr>
        </p:nvSpPr>
        <p:spPr>
          <a:xfrm>
            <a:off x="1097280" y="1554480"/>
            <a:ext cx="6858000" cy="1918474"/>
          </a:xfrm>
        </p:spPr>
        <p:txBody>
          <a:bodyPr/>
          <a:lstStyle/>
          <a:p>
            <a:pPr marL="285750" indent="-285750">
              <a:buFont typeface="Arial" panose="020B0604020202020204" pitchFamily="34" charset="0"/>
              <a:buChar char="•"/>
            </a:pPr>
            <a:r>
              <a:rPr lang="en-US" dirty="0"/>
              <a:t>ETF predictability is state-dependent</a:t>
            </a:r>
          </a:p>
          <a:p>
            <a:pPr marL="285750" indent="-285750">
              <a:buFont typeface="Arial" panose="020B0604020202020204" pitchFamily="34" charset="0"/>
              <a:buChar char="•"/>
            </a:pPr>
            <a:r>
              <a:rPr lang="en-US" dirty="0"/>
              <a:t>High synchronization flips short-horizon equity predictability from continuation to reversal</a:t>
            </a:r>
          </a:p>
          <a:p>
            <a:pPr marL="285750" indent="-285750">
              <a:buFont typeface="Arial" panose="020B0604020202020204" pitchFamily="34" charset="0"/>
              <a:buChar char="•"/>
            </a:pPr>
            <a:r>
              <a:rPr lang="en-US" dirty="0"/>
              <a:t>Timing decomposition shows distinct overnight and intraday channels</a:t>
            </a:r>
          </a:p>
          <a:p>
            <a:pPr marL="285750" indent="-285750">
              <a:buFont typeface="Arial" panose="020B0604020202020204" pitchFamily="34" charset="0"/>
              <a:buChar char="•"/>
            </a:pPr>
            <a:r>
              <a:rPr lang="en-US" dirty="0"/>
              <a:t>Matched synchronization is economically meaningful but does not replace the benchmark</a:t>
            </a:r>
          </a:p>
          <a:p>
            <a:pPr marL="285750" indent="-285750">
              <a:buFont typeface="Arial" panose="020B0604020202020204" pitchFamily="34" charset="0"/>
              <a:buChar char="•"/>
            </a:pPr>
            <a:r>
              <a:rPr lang="en-US" dirty="0"/>
              <a:t>Forecast and portfolio results show promise but also clear implementation frictions.</a:t>
            </a:r>
          </a:p>
        </p:txBody>
      </p:sp>
    </p:spTree>
    <p:extLst>
      <p:ext uri="{BB962C8B-B14F-4D97-AF65-F5344CB8AC3E}">
        <p14:creationId xmlns:p14="http://schemas.microsoft.com/office/powerpoint/2010/main" val="1875437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8367F-9A3C-2BF1-FF01-2484B1B7B4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98E0823-C1B2-3C87-D6A6-5CA06A1078AB}"/>
              </a:ext>
            </a:extLst>
          </p:cNvPr>
          <p:cNvSpPr>
            <a:spLocks noGrp="1"/>
          </p:cNvSpPr>
          <p:nvPr>
            <p:ph type="body" sz="quarter" idx="13"/>
          </p:nvPr>
        </p:nvSpPr>
        <p:spPr>
          <a:xfrm>
            <a:off x="1097280" y="1249519"/>
            <a:ext cx="6858000" cy="2823337"/>
          </a:xfrm>
        </p:spPr>
        <p:txBody>
          <a:bodyPr/>
          <a:lstStyle/>
          <a:p>
            <a:r>
              <a:rPr lang="en-US" dirty="0"/>
              <a:t>Replace the scalar synchronization index with a </a:t>
            </a:r>
            <a:r>
              <a:rPr lang="en-US" b="1" dirty="0"/>
              <a:t>pairwise co-trading matrix</a:t>
            </a:r>
            <a:r>
              <a:rPr lang="en-US" dirty="0"/>
              <a:t>.</a:t>
            </a:r>
          </a:p>
          <a:p>
            <a:pPr lvl="1"/>
            <a:r>
              <a:rPr lang="en-US" dirty="0"/>
              <a:t>This would measure which stocks co-move in abnormal trading activity with each other, not just how much aggregate synchronization exists.</a:t>
            </a:r>
          </a:p>
          <a:p>
            <a:pPr lvl="1"/>
            <a:r>
              <a:rPr lang="en-US" dirty="0"/>
              <a:t>It could reveal sector clustering, market leadership, and whether ETF predictability depends on the structure of the network, not just the overall intensity.</a:t>
            </a:r>
          </a:p>
          <a:p>
            <a:r>
              <a:rPr lang="en-US" dirty="0"/>
              <a:t>Improve the portfolio design to reduce trading frictions.</a:t>
            </a:r>
          </a:p>
          <a:p>
            <a:pPr lvl="1"/>
            <a:r>
              <a:rPr lang="en-US" dirty="0"/>
              <a:t>Test slower rebalancing, signal smoothing, holding-period overlap, or threshold-based trading.</a:t>
            </a:r>
          </a:p>
          <a:p>
            <a:pPr lvl="1"/>
            <a:r>
              <a:rPr lang="en-US" dirty="0"/>
              <a:t>Current gross results are promising, but turnover is too high.</a:t>
            </a:r>
          </a:p>
          <a:p>
            <a:br>
              <a:rPr lang="en-US" dirty="0"/>
            </a:br>
            <a:endParaRPr lang="en-US" dirty="0"/>
          </a:p>
        </p:txBody>
      </p:sp>
      <p:sp>
        <p:nvSpPr>
          <p:cNvPr id="4" name="Slide Number Placeholder 3">
            <a:extLst>
              <a:ext uri="{FF2B5EF4-FFF2-40B4-BE49-F238E27FC236}">
                <a16:creationId xmlns:a16="http://schemas.microsoft.com/office/drawing/2014/main" id="{E9F0F8A7-3F73-1754-2699-FA9C57ED8A31}"/>
              </a:ext>
            </a:extLst>
          </p:cNvPr>
          <p:cNvSpPr>
            <a:spLocks noGrp="1"/>
          </p:cNvSpPr>
          <p:nvPr>
            <p:ph type="sldNum" sz="quarter" idx="19"/>
          </p:nvPr>
        </p:nvSpPr>
        <p:spPr/>
        <p:txBody>
          <a:bodyPr/>
          <a:lstStyle/>
          <a:p>
            <a:fld id="{B6238B5B-F19C-E947-A0BC-87BD7983F871}" type="slidenum">
              <a:rPr lang="en-US" smtClean="0"/>
              <a:pPr/>
              <a:t>17</a:t>
            </a:fld>
            <a:endParaRPr lang="en-US" dirty="0"/>
          </a:p>
        </p:txBody>
      </p:sp>
      <p:sp>
        <p:nvSpPr>
          <p:cNvPr id="5" name="Title 4">
            <a:extLst>
              <a:ext uri="{FF2B5EF4-FFF2-40B4-BE49-F238E27FC236}">
                <a16:creationId xmlns:a16="http://schemas.microsoft.com/office/drawing/2014/main" id="{6C71BE54-1DEE-1D3F-C1C7-56AD4A621111}"/>
              </a:ext>
            </a:extLst>
          </p:cNvPr>
          <p:cNvSpPr>
            <a:spLocks noGrp="1"/>
          </p:cNvSpPr>
          <p:nvPr>
            <p:ph type="title"/>
          </p:nvPr>
        </p:nvSpPr>
        <p:spPr/>
        <p:txBody>
          <a:bodyPr/>
          <a:lstStyle/>
          <a:p>
            <a:r>
              <a:rPr lang="en-US" dirty="0"/>
              <a:t>Future Research</a:t>
            </a:r>
          </a:p>
        </p:txBody>
      </p:sp>
      <p:pic>
        <p:nvPicPr>
          <p:cNvPr id="7" name="Picture 6">
            <a:extLst>
              <a:ext uri="{FF2B5EF4-FFF2-40B4-BE49-F238E27FC236}">
                <a16:creationId xmlns:a16="http://schemas.microsoft.com/office/drawing/2014/main" id="{290B62E8-EA08-2C57-FF79-C2D26579AC58}"/>
              </a:ext>
            </a:extLst>
          </p:cNvPr>
          <p:cNvPicPr>
            <a:picLocks noChangeAspect="1"/>
          </p:cNvPicPr>
          <p:nvPr/>
        </p:nvPicPr>
        <p:blipFill>
          <a:blip r:embed="rId2"/>
          <a:stretch>
            <a:fillRect/>
          </a:stretch>
        </p:blipFill>
        <p:spPr>
          <a:xfrm>
            <a:off x="5205439" y="3703986"/>
            <a:ext cx="2467319" cy="943107"/>
          </a:xfrm>
          <a:prstGeom prst="rect">
            <a:avLst/>
          </a:prstGeom>
        </p:spPr>
      </p:pic>
      <p:pic>
        <p:nvPicPr>
          <p:cNvPr id="9" name="Picture 8">
            <a:extLst>
              <a:ext uri="{FF2B5EF4-FFF2-40B4-BE49-F238E27FC236}">
                <a16:creationId xmlns:a16="http://schemas.microsoft.com/office/drawing/2014/main" id="{9D9474AA-57D3-1992-986D-0B4FF425AD4A}"/>
              </a:ext>
            </a:extLst>
          </p:cNvPr>
          <p:cNvPicPr>
            <a:picLocks noChangeAspect="1"/>
          </p:cNvPicPr>
          <p:nvPr/>
        </p:nvPicPr>
        <p:blipFill>
          <a:blip r:embed="rId3"/>
          <a:stretch>
            <a:fillRect/>
          </a:stretch>
        </p:blipFill>
        <p:spPr>
          <a:xfrm>
            <a:off x="919188" y="3827790"/>
            <a:ext cx="3423647" cy="695498"/>
          </a:xfrm>
          <a:prstGeom prst="rect">
            <a:avLst/>
          </a:prstGeom>
        </p:spPr>
      </p:pic>
      <p:sp>
        <p:nvSpPr>
          <p:cNvPr id="11" name="TextBox 10">
            <a:extLst>
              <a:ext uri="{FF2B5EF4-FFF2-40B4-BE49-F238E27FC236}">
                <a16:creationId xmlns:a16="http://schemas.microsoft.com/office/drawing/2014/main" id="{7027BDDF-6841-56A2-CECC-17E388A2ED17}"/>
              </a:ext>
            </a:extLst>
          </p:cNvPr>
          <p:cNvSpPr txBox="1"/>
          <p:nvPr/>
        </p:nvSpPr>
        <p:spPr>
          <a:xfrm>
            <a:off x="4601744" y="3997990"/>
            <a:ext cx="514649" cy="300082"/>
          </a:xfrm>
          <a:prstGeom prst="rect">
            <a:avLst/>
          </a:prstGeom>
          <a:noFill/>
        </p:spPr>
        <p:txBody>
          <a:bodyPr wrap="square">
            <a:spAutoFit/>
          </a:bodyPr>
          <a:lstStyle/>
          <a:p>
            <a:r>
              <a:rPr lang="en-US" dirty="0"/>
              <a:t>vs</a:t>
            </a:r>
          </a:p>
        </p:txBody>
      </p:sp>
    </p:spTree>
    <p:extLst>
      <p:ext uri="{BB962C8B-B14F-4D97-AF65-F5344CB8AC3E}">
        <p14:creationId xmlns:p14="http://schemas.microsoft.com/office/powerpoint/2010/main" val="998380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3BDE-CF02-EE1F-2EBC-E3305A1FAC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B34145-E2BA-7271-865B-51DB1AAD6155}"/>
              </a:ext>
            </a:extLst>
          </p:cNvPr>
          <p:cNvSpPr>
            <a:spLocks noGrp="1"/>
          </p:cNvSpPr>
          <p:nvPr>
            <p:ph type="sldNum" sz="quarter" idx="19"/>
          </p:nvPr>
        </p:nvSpPr>
        <p:spPr/>
        <p:txBody>
          <a:bodyPr/>
          <a:lstStyle/>
          <a:p>
            <a:fld id="{B6238B5B-F19C-E947-A0BC-87BD7983F871}" type="slidenum">
              <a:rPr lang="en-US" smtClean="0"/>
              <a:pPr/>
              <a:t>18</a:t>
            </a:fld>
            <a:endParaRPr lang="en-US" dirty="0"/>
          </a:p>
        </p:txBody>
      </p:sp>
      <p:sp>
        <p:nvSpPr>
          <p:cNvPr id="5" name="Title 4">
            <a:extLst>
              <a:ext uri="{FF2B5EF4-FFF2-40B4-BE49-F238E27FC236}">
                <a16:creationId xmlns:a16="http://schemas.microsoft.com/office/drawing/2014/main" id="{DCB8565E-4BDE-261E-0C35-DEE9CA548076}"/>
              </a:ext>
            </a:extLst>
          </p:cNvPr>
          <p:cNvSpPr>
            <a:spLocks noGrp="1"/>
          </p:cNvSpPr>
          <p:nvPr>
            <p:ph type="title"/>
          </p:nvPr>
        </p:nvSpPr>
        <p:spPr/>
        <p:txBody>
          <a:bodyPr/>
          <a:lstStyle/>
          <a:p>
            <a:r>
              <a:rPr lang="en-US" dirty="0"/>
              <a:t>References</a:t>
            </a:r>
          </a:p>
        </p:txBody>
      </p:sp>
      <p:sp>
        <p:nvSpPr>
          <p:cNvPr id="6" name="Text Placeholder 5">
            <a:extLst>
              <a:ext uri="{FF2B5EF4-FFF2-40B4-BE49-F238E27FC236}">
                <a16:creationId xmlns:a16="http://schemas.microsoft.com/office/drawing/2014/main" id="{9E376907-507D-2F50-C211-926F9E955BAB}"/>
              </a:ext>
            </a:extLst>
          </p:cNvPr>
          <p:cNvSpPr>
            <a:spLocks noGrp="1"/>
          </p:cNvSpPr>
          <p:nvPr>
            <p:ph type="body" sz="quarter" idx="13"/>
          </p:nvPr>
        </p:nvSpPr>
        <p:spPr>
          <a:xfrm>
            <a:off x="1097277" y="931026"/>
            <a:ext cx="6858000" cy="3631763"/>
          </a:xfrm>
        </p:spPr>
        <p:txBody>
          <a:bodyPr/>
          <a:lstStyle/>
          <a:p>
            <a:pPr marL="285750" indent="-285750">
              <a:buFont typeface="Arial" panose="020B0604020202020204" pitchFamily="34" charset="0"/>
              <a:buChar char="•"/>
            </a:pPr>
            <a:r>
              <a:rPr lang="en-US" dirty="0"/>
              <a:t>Barberis, N., Shleifer, A., and </a:t>
            </a:r>
            <a:r>
              <a:rPr lang="en-US" dirty="0" err="1"/>
              <a:t>Vishny</a:t>
            </a:r>
            <a:r>
              <a:rPr lang="en-US" dirty="0"/>
              <a:t>, R. (1998). A model of investor sentiment. Journal of Financial Economics, 49(3):307–343.</a:t>
            </a:r>
          </a:p>
          <a:p>
            <a:pPr marL="285750" indent="-285750">
              <a:buFont typeface="Arial" panose="020B0604020202020204" pitchFamily="34" charset="0"/>
              <a:buChar char="•"/>
            </a:pPr>
            <a:r>
              <a:rPr lang="en-US" dirty="0"/>
              <a:t>Ben-David, I., Franzoni, F., and Moussawi, R. (2018). Do ETFs increase volatility? The Journal of Finance, 73(6):2471–2535.</a:t>
            </a:r>
          </a:p>
          <a:p>
            <a:pPr marL="285750" indent="-285750">
              <a:buFont typeface="Arial" panose="020B0604020202020204" pitchFamily="34" charset="0"/>
              <a:buChar char="•"/>
            </a:pPr>
            <a:r>
              <a:rPr lang="en-US" dirty="0"/>
              <a:t>Corsi, F. (2009). A simple approximate long-memory model of realized volatility. Journal of Financial Econometrics, 7(2):174–196.</a:t>
            </a:r>
          </a:p>
          <a:p>
            <a:pPr marL="285750" indent="-285750">
              <a:buFont typeface="Arial" panose="020B0604020202020204" pitchFamily="34" charset="0"/>
              <a:buChar char="•"/>
            </a:pPr>
            <a:r>
              <a:rPr lang="en-US" dirty="0"/>
              <a:t>Coval, J. and Stafford, E. (2007). Asset fire sales (and purchases) in equity markets. Journal of Financial Economics, 86(2):479–512.</a:t>
            </a:r>
          </a:p>
          <a:p>
            <a:pPr marL="285750" indent="-285750">
              <a:buFont typeface="Arial" panose="020B0604020202020204" pitchFamily="34" charset="0"/>
              <a:buChar char="•"/>
            </a:pPr>
            <a:r>
              <a:rPr lang="en-US" dirty="0"/>
              <a:t>De Long, J. B., Shleifer, A., Summers, L. H., and Waldmann, R. J. (1990). Noise trader risk in financial markets. Journal of Political Economy, 98(4):703–738.</a:t>
            </a:r>
          </a:p>
          <a:p>
            <a:pPr marL="285750" indent="-285750">
              <a:buFont typeface="Arial" panose="020B0604020202020204" pitchFamily="34" charset="0"/>
              <a:buChar char="•"/>
            </a:pPr>
            <a:r>
              <a:rPr lang="en-US" dirty="0"/>
              <a:t>Jegadeesh, N. and Titman, S. (1993). Returns to buying winners and selling losers: Implications for stock market efficiency. The Journal of Finance, 48(1):65–91.</a:t>
            </a:r>
          </a:p>
          <a:p>
            <a:pPr marL="285750" indent="-285750">
              <a:buFont typeface="Arial" panose="020B0604020202020204" pitchFamily="34" charset="0"/>
              <a:buChar char="•"/>
            </a:pPr>
            <a:r>
              <a:rPr lang="en-US" dirty="0"/>
              <a:t>Lo, A. W. and </a:t>
            </a:r>
            <a:r>
              <a:rPr lang="en-US" dirty="0" err="1"/>
              <a:t>MacKinlay</a:t>
            </a:r>
            <a:r>
              <a:rPr lang="en-US" dirty="0"/>
              <a:t>, A. C. (1990). When are contrarian profits due to stock market overreaction? The Review of Financial Studies, 3(2):175–205.</a:t>
            </a:r>
          </a:p>
        </p:txBody>
      </p:sp>
    </p:spTree>
    <p:extLst>
      <p:ext uri="{BB962C8B-B14F-4D97-AF65-F5344CB8AC3E}">
        <p14:creationId xmlns:p14="http://schemas.microsoft.com/office/powerpoint/2010/main" val="535935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727CC1-6055-134F-AE25-C68C4A9ED0E9}"/>
              </a:ext>
            </a:extLst>
          </p:cNvPr>
          <p:cNvSpPr>
            <a:spLocks noGrp="1"/>
          </p:cNvSpPr>
          <p:nvPr>
            <p:ph type="sldNum" sz="quarter" idx="19"/>
          </p:nvPr>
        </p:nvSpPr>
        <p:spPr/>
        <p:txBody>
          <a:bodyPr/>
          <a:lstStyle/>
          <a:p>
            <a:fld id="{B6238B5B-F19C-E947-A0BC-87BD7983F871}" type="slidenum">
              <a:rPr lang="en-US" smtClean="0"/>
              <a:pPr/>
              <a:t>19</a:t>
            </a:fld>
            <a:endParaRPr lang="en-US" dirty="0"/>
          </a:p>
        </p:txBody>
      </p:sp>
    </p:spTree>
    <p:extLst>
      <p:ext uri="{BB962C8B-B14F-4D97-AF65-F5344CB8AC3E}">
        <p14:creationId xmlns:p14="http://schemas.microsoft.com/office/powerpoint/2010/main" val="3957756992"/>
      </p:ext>
    </p:extLst>
  </p:cSld>
  <p:clrMapOvr>
    <a:masterClrMapping/>
  </p:clrMapOvr>
</p:sld>
</file>

<file path=ppt/theme/theme1.xml><?xml version="1.0" encoding="utf-8"?>
<a:theme xmlns:a="http://schemas.openxmlformats.org/drawingml/2006/main"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3" id="{29398D0B-90C9-544C-A6FC-AE19BFCCC692}" vid="{4B4CC681-B77A-AB4C-AD62-92A8F50A32EB}"/>
    </a:ext>
  </a:extLst>
</a:theme>
</file>

<file path=ppt/theme/theme2.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Presentation-01-master</Template>
  <TotalTime>170</TotalTime>
  <Words>1015</Words>
  <Application>Microsoft Office PowerPoint</Application>
  <PresentationFormat>On-screen Show (16:9)</PresentationFormat>
  <Paragraphs>243</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Helvetica Regular</vt:lpstr>
      <vt:lpstr>Aptos Narrow</vt:lpstr>
      <vt:lpstr>Arial</vt:lpstr>
      <vt:lpstr>Calibri</vt:lpstr>
      <vt:lpstr>Helvetica</vt:lpstr>
      <vt:lpstr>presentation-01-light</vt:lpstr>
      <vt:lpstr>presentation-01-dark</vt:lpstr>
      <vt:lpstr>PowerPoint Presentation</vt:lpstr>
      <vt:lpstr>Core Question</vt:lpstr>
      <vt:lpstr>PowerPoint Presentation</vt:lpstr>
      <vt:lpstr>Data and Return Construction</vt:lpstr>
      <vt:lpstr>HAR Aggregation</vt:lpstr>
      <vt:lpstr>Synchronization Measure</vt:lpstr>
      <vt:lpstr>Benchmark Design</vt:lpstr>
      <vt:lpstr>PowerPoint Presentation</vt:lpstr>
      <vt:lpstr>Main Benchmark Result</vt:lpstr>
      <vt:lpstr>Extension 1 – Timing Decomposition</vt:lpstr>
      <vt:lpstr>Extension 1 – Timing Decomposition</vt:lpstr>
      <vt:lpstr>Extension 1 – Timing Decomposition</vt:lpstr>
      <vt:lpstr>Extension 1 – Timing Decomposition</vt:lpstr>
      <vt:lpstr>Out-of-Sample Forecasting</vt:lpstr>
      <vt:lpstr>Portfolio and Economic Significance</vt:lpstr>
      <vt:lpstr>Conclusion</vt:lpstr>
      <vt:lpstr>Future Research</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Yao</dc:creator>
  <cp:lastModifiedBy>William Yao</cp:lastModifiedBy>
  <cp:revision>2</cp:revision>
  <dcterms:created xsi:type="dcterms:W3CDTF">2026-03-18T17:26:37Z</dcterms:created>
  <dcterms:modified xsi:type="dcterms:W3CDTF">2026-03-18T21:37:07Z</dcterms:modified>
</cp:coreProperties>
</file>